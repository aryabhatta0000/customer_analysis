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Epilogue" panose="020B0604020202020204" charset="0"/>
      <p:regular r:id="rId14"/>
    </p:embeddedFont>
    <p:embeddedFont>
      <p:font typeface="Fraunces Medium"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3097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710815"/>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FFFFFF"/>
                </a:solidFill>
                <a:latin typeface="Fraunces Medium" pitchFamily="34" charset="0"/>
                <a:ea typeface="Fraunces Medium" pitchFamily="34" charset="-122"/>
                <a:cs typeface="Fraunces Medium" pitchFamily="34" charset="-120"/>
              </a:rPr>
              <a:t>Customer Shopping Behavior Analysis</a:t>
            </a:r>
            <a:endParaRPr lang="en-US" sz="3900" dirty="0"/>
          </a:p>
        </p:txBody>
      </p:sp>
      <p:sp>
        <p:nvSpPr>
          <p:cNvPr id="4" name="Text 1"/>
          <p:cNvSpPr/>
          <p:nvPr/>
        </p:nvSpPr>
        <p:spPr>
          <a:xfrm>
            <a:off x="6280190" y="4248626"/>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Analyzing transactional data from 3,900 purchases across multiple product categories to uncover insights into spending patterns, customer segments, product preferences, and subscription behavior. This comprehensive analysis guides strategic business decisions through data-driven insights.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812494"/>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FFFFFF"/>
                </a:solidFill>
                <a:latin typeface="Fraunces Medium" pitchFamily="34" charset="0"/>
                <a:ea typeface="Fraunces Medium" pitchFamily="34" charset="-122"/>
                <a:cs typeface="Fraunces Medium" pitchFamily="34" charset="-120"/>
              </a:rPr>
              <a:t>About Me</a:t>
            </a:r>
            <a:endParaRPr lang="en-US" sz="3900" dirty="0"/>
          </a:p>
        </p:txBody>
      </p:sp>
      <p:sp>
        <p:nvSpPr>
          <p:cNvPr id="3" name="Text 1"/>
          <p:cNvSpPr/>
          <p:nvPr/>
        </p:nvSpPr>
        <p:spPr>
          <a:xfrm>
            <a:off x="793790" y="3829407"/>
            <a:ext cx="13042821" cy="1587698"/>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Hello! I'm Arya Bhattacharya, an undergraduate student deeply immersed in the transformative world of Data Analytics. My passion lies in translating complex information into clear, actionable insights that drive real-world impact. This project is a testament to that commitment, meticulously analyzing thousands of customer purchases to uncover behaviors, predict preferences, and equip businesses with the intelligence needed for strategic, informed decision-making. Together, we'll unlock the power of data to fuel smarter growth.</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838"/>
          </a:xfrm>
          <a:prstGeom prst="rect">
            <a:avLst/>
          </a:prstGeom>
        </p:spPr>
      </p:pic>
      <p:sp>
        <p:nvSpPr>
          <p:cNvPr id="3" name="Text 0"/>
          <p:cNvSpPr/>
          <p:nvPr/>
        </p:nvSpPr>
        <p:spPr>
          <a:xfrm>
            <a:off x="767596" y="527685"/>
            <a:ext cx="4797385" cy="599599"/>
          </a:xfrm>
          <a:prstGeom prst="rect">
            <a:avLst/>
          </a:prstGeom>
          <a:noFill/>
          <a:ln/>
        </p:spPr>
        <p:txBody>
          <a:bodyPr wrap="none" lIns="0" tIns="0" rIns="0" bIns="0" rtlCol="0" anchor="t"/>
          <a:lstStyle/>
          <a:p>
            <a:pPr marL="0" indent="0" algn="l">
              <a:lnSpc>
                <a:spcPts val="4700"/>
              </a:lnSpc>
              <a:buNone/>
            </a:pPr>
            <a:r>
              <a:rPr lang="en-US" sz="3750" dirty="0">
                <a:solidFill>
                  <a:srgbClr val="FFFFFF"/>
                </a:solidFill>
                <a:latin typeface="Fraunces Medium" pitchFamily="34" charset="0"/>
                <a:ea typeface="Fraunces Medium" pitchFamily="34" charset="-122"/>
                <a:cs typeface="Fraunces Medium" pitchFamily="34" charset="-120"/>
              </a:rPr>
              <a:t>Dataset Overview</a:t>
            </a:r>
            <a:endParaRPr lang="en-US" sz="3750" dirty="0"/>
          </a:p>
        </p:txBody>
      </p:sp>
      <p:sp>
        <p:nvSpPr>
          <p:cNvPr id="4" name="Shape 1"/>
          <p:cNvSpPr/>
          <p:nvPr/>
        </p:nvSpPr>
        <p:spPr>
          <a:xfrm>
            <a:off x="767596" y="1415058"/>
            <a:ext cx="7608808" cy="1427917"/>
          </a:xfrm>
          <a:prstGeom prst="roundRect">
            <a:avLst>
              <a:gd name="adj" fmla="val 5644"/>
            </a:avLst>
          </a:prstGeom>
          <a:solidFill>
            <a:srgbClr val="283157"/>
          </a:solidFill>
          <a:ln w="7620">
            <a:solidFill>
              <a:srgbClr val="414A70"/>
            </a:solidFill>
            <a:prstDash val="solid"/>
          </a:ln>
        </p:spPr>
      </p:sp>
      <p:sp>
        <p:nvSpPr>
          <p:cNvPr id="5" name="Text 2"/>
          <p:cNvSpPr/>
          <p:nvPr/>
        </p:nvSpPr>
        <p:spPr>
          <a:xfrm>
            <a:off x="967026" y="1614488"/>
            <a:ext cx="2398633" cy="299799"/>
          </a:xfrm>
          <a:prstGeom prst="rect">
            <a:avLst/>
          </a:prstGeom>
          <a:noFill/>
          <a:ln/>
        </p:spPr>
        <p:txBody>
          <a:bodyPr wrap="none" lIns="0" tIns="0" rIns="0" bIns="0" rtlCol="0" anchor="t"/>
          <a:lstStyle/>
          <a:p>
            <a:pPr marL="0" indent="0" algn="l">
              <a:lnSpc>
                <a:spcPts val="2350"/>
              </a:lnSpc>
              <a:buNone/>
            </a:pPr>
            <a:r>
              <a:rPr lang="en-US" sz="1850" dirty="0">
                <a:solidFill>
                  <a:srgbClr val="EBECEF"/>
                </a:solidFill>
                <a:latin typeface="Fraunces Medium" pitchFamily="34" charset="0"/>
                <a:ea typeface="Fraunces Medium" pitchFamily="34" charset="-122"/>
                <a:cs typeface="Fraunces Medium" pitchFamily="34" charset="-120"/>
              </a:rPr>
              <a:t>Dataset Scale</a:t>
            </a:r>
            <a:endParaRPr lang="en-US" sz="1850" dirty="0"/>
          </a:p>
        </p:txBody>
      </p:sp>
      <p:sp>
        <p:nvSpPr>
          <p:cNvPr id="6" name="Text 3"/>
          <p:cNvSpPr/>
          <p:nvPr/>
        </p:nvSpPr>
        <p:spPr>
          <a:xfrm>
            <a:off x="967026" y="2029420"/>
            <a:ext cx="7209949" cy="614124"/>
          </a:xfrm>
          <a:prstGeom prst="rect">
            <a:avLst/>
          </a:prstGeom>
          <a:noFill/>
          <a:ln/>
        </p:spPr>
        <p:txBody>
          <a:bodyPr wrap="square" lIns="0" tIns="0" rIns="0" bIns="0" rtlCol="0" anchor="t"/>
          <a:lstStyle/>
          <a:p>
            <a:pPr marL="0" indent="0" algn="l">
              <a:lnSpc>
                <a:spcPts val="2400"/>
              </a:lnSpc>
              <a:buNone/>
            </a:pPr>
            <a:r>
              <a:rPr lang="en-US" sz="1500" dirty="0">
                <a:solidFill>
                  <a:srgbClr val="EBECEF"/>
                </a:solidFill>
                <a:latin typeface="Epilogue" pitchFamily="34" charset="0"/>
                <a:ea typeface="Epilogue" pitchFamily="34" charset="-122"/>
                <a:cs typeface="Epilogue" pitchFamily="34" charset="-120"/>
              </a:rPr>
              <a:t>3,900 purchases analyzed across 18 columns capturing comprehensive customer and transaction data.</a:t>
            </a:r>
            <a:endParaRPr lang="en-US" sz="1500" dirty="0"/>
          </a:p>
        </p:txBody>
      </p:sp>
      <p:sp>
        <p:nvSpPr>
          <p:cNvPr id="7" name="Shape 4"/>
          <p:cNvSpPr/>
          <p:nvPr/>
        </p:nvSpPr>
        <p:spPr>
          <a:xfrm>
            <a:off x="767596" y="3034784"/>
            <a:ext cx="7608808" cy="1427917"/>
          </a:xfrm>
          <a:prstGeom prst="roundRect">
            <a:avLst>
              <a:gd name="adj" fmla="val 5644"/>
            </a:avLst>
          </a:prstGeom>
          <a:solidFill>
            <a:srgbClr val="283157"/>
          </a:solidFill>
          <a:ln w="7620">
            <a:solidFill>
              <a:srgbClr val="414A70"/>
            </a:solidFill>
            <a:prstDash val="solid"/>
          </a:ln>
        </p:spPr>
      </p:sp>
      <p:sp>
        <p:nvSpPr>
          <p:cNvPr id="8" name="Text 5"/>
          <p:cNvSpPr/>
          <p:nvPr/>
        </p:nvSpPr>
        <p:spPr>
          <a:xfrm>
            <a:off x="967026" y="3234214"/>
            <a:ext cx="2855833" cy="299799"/>
          </a:xfrm>
          <a:prstGeom prst="rect">
            <a:avLst/>
          </a:prstGeom>
          <a:noFill/>
          <a:ln/>
        </p:spPr>
        <p:txBody>
          <a:bodyPr wrap="none" lIns="0" tIns="0" rIns="0" bIns="0" rtlCol="0" anchor="t"/>
          <a:lstStyle/>
          <a:p>
            <a:pPr marL="0" indent="0" algn="l">
              <a:lnSpc>
                <a:spcPts val="2350"/>
              </a:lnSpc>
              <a:buNone/>
            </a:pPr>
            <a:r>
              <a:rPr lang="en-US" sz="1850" dirty="0">
                <a:solidFill>
                  <a:srgbClr val="EBECEF"/>
                </a:solidFill>
                <a:latin typeface="Fraunces Medium" pitchFamily="34" charset="0"/>
                <a:ea typeface="Fraunces Medium" pitchFamily="34" charset="-122"/>
                <a:cs typeface="Fraunces Medium" pitchFamily="34" charset="-120"/>
              </a:rPr>
              <a:t>Customer Demographics</a:t>
            </a:r>
            <a:endParaRPr lang="en-US" sz="1850" dirty="0"/>
          </a:p>
        </p:txBody>
      </p:sp>
      <p:sp>
        <p:nvSpPr>
          <p:cNvPr id="9" name="Text 6"/>
          <p:cNvSpPr/>
          <p:nvPr/>
        </p:nvSpPr>
        <p:spPr>
          <a:xfrm>
            <a:off x="967026" y="3649147"/>
            <a:ext cx="7209949" cy="614124"/>
          </a:xfrm>
          <a:prstGeom prst="rect">
            <a:avLst/>
          </a:prstGeom>
          <a:noFill/>
          <a:ln/>
        </p:spPr>
        <p:txBody>
          <a:bodyPr wrap="square" lIns="0" tIns="0" rIns="0" bIns="0" rtlCol="0" anchor="t"/>
          <a:lstStyle/>
          <a:p>
            <a:pPr marL="0" indent="0" algn="l">
              <a:lnSpc>
                <a:spcPts val="2400"/>
              </a:lnSpc>
              <a:buNone/>
            </a:pPr>
            <a:r>
              <a:rPr lang="en-US" sz="1500" dirty="0">
                <a:solidFill>
                  <a:srgbClr val="EBECEF"/>
                </a:solidFill>
                <a:latin typeface="Epilogue" pitchFamily="34" charset="0"/>
                <a:ea typeface="Epilogue" pitchFamily="34" charset="-122"/>
                <a:cs typeface="Epilogue" pitchFamily="34" charset="-120"/>
              </a:rPr>
              <a:t>Age, gender, location, and subscription status tracked across all transactions.</a:t>
            </a:r>
            <a:endParaRPr lang="en-US" sz="1500" dirty="0"/>
          </a:p>
        </p:txBody>
      </p:sp>
      <p:sp>
        <p:nvSpPr>
          <p:cNvPr id="10" name="Shape 7"/>
          <p:cNvSpPr/>
          <p:nvPr/>
        </p:nvSpPr>
        <p:spPr>
          <a:xfrm>
            <a:off x="767596" y="4654510"/>
            <a:ext cx="7608808" cy="1427917"/>
          </a:xfrm>
          <a:prstGeom prst="roundRect">
            <a:avLst>
              <a:gd name="adj" fmla="val 5644"/>
            </a:avLst>
          </a:prstGeom>
          <a:solidFill>
            <a:srgbClr val="283157"/>
          </a:solidFill>
          <a:ln w="7620">
            <a:solidFill>
              <a:srgbClr val="414A70"/>
            </a:solidFill>
            <a:prstDash val="solid"/>
          </a:ln>
        </p:spPr>
      </p:sp>
      <p:sp>
        <p:nvSpPr>
          <p:cNvPr id="11" name="Text 8"/>
          <p:cNvSpPr/>
          <p:nvPr/>
        </p:nvSpPr>
        <p:spPr>
          <a:xfrm>
            <a:off x="967026" y="4853940"/>
            <a:ext cx="2398633" cy="299799"/>
          </a:xfrm>
          <a:prstGeom prst="rect">
            <a:avLst/>
          </a:prstGeom>
          <a:noFill/>
          <a:ln/>
        </p:spPr>
        <p:txBody>
          <a:bodyPr wrap="none" lIns="0" tIns="0" rIns="0" bIns="0" rtlCol="0" anchor="t"/>
          <a:lstStyle/>
          <a:p>
            <a:pPr marL="0" indent="0" algn="l">
              <a:lnSpc>
                <a:spcPts val="2350"/>
              </a:lnSpc>
              <a:buNone/>
            </a:pPr>
            <a:r>
              <a:rPr lang="en-US" sz="1850" dirty="0">
                <a:solidFill>
                  <a:srgbClr val="EBECEF"/>
                </a:solidFill>
                <a:latin typeface="Fraunces Medium" pitchFamily="34" charset="0"/>
                <a:ea typeface="Fraunces Medium" pitchFamily="34" charset="-122"/>
                <a:cs typeface="Fraunces Medium" pitchFamily="34" charset="-120"/>
              </a:rPr>
              <a:t>Purchase Details</a:t>
            </a:r>
            <a:endParaRPr lang="en-US" sz="1850" dirty="0"/>
          </a:p>
        </p:txBody>
      </p:sp>
      <p:sp>
        <p:nvSpPr>
          <p:cNvPr id="12" name="Text 9"/>
          <p:cNvSpPr/>
          <p:nvPr/>
        </p:nvSpPr>
        <p:spPr>
          <a:xfrm>
            <a:off x="967026" y="5268873"/>
            <a:ext cx="7209949" cy="614124"/>
          </a:xfrm>
          <a:prstGeom prst="rect">
            <a:avLst/>
          </a:prstGeom>
          <a:noFill/>
          <a:ln/>
        </p:spPr>
        <p:txBody>
          <a:bodyPr wrap="square" lIns="0" tIns="0" rIns="0" bIns="0" rtlCol="0" anchor="t"/>
          <a:lstStyle/>
          <a:p>
            <a:pPr marL="0" indent="0" algn="l">
              <a:lnSpc>
                <a:spcPts val="2400"/>
              </a:lnSpc>
              <a:buNone/>
            </a:pPr>
            <a:r>
              <a:rPr lang="en-US" sz="1500" dirty="0">
                <a:solidFill>
                  <a:srgbClr val="EBECEF"/>
                </a:solidFill>
                <a:latin typeface="Epilogue" pitchFamily="34" charset="0"/>
                <a:ea typeface="Epilogue" pitchFamily="34" charset="-122"/>
                <a:cs typeface="Epilogue" pitchFamily="34" charset="-120"/>
              </a:rPr>
              <a:t>Item purchased, category, amount, season, size, color, and shipping type documented.</a:t>
            </a:r>
            <a:endParaRPr lang="en-US" sz="1500" dirty="0"/>
          </a:p>
        </p:txBody>
      </p:sp>
      <p:sp>
        <p:nvSpPr>
          <p:cNvPr id="13" name="Shape 10"/>
          <p:cNvSpPr/>
          <p:nvPr/>
        </p:nvSpPr>
        <p:spPr>
          <a:xfrm>
            <a:off x="767596" y="6274237"/>
            <a:ext cx="7608808" cy="1427917"/>
          </a:xfrm>
          <a:prstGeom prst="roundRect">
            <a:avLst>
              <a:gd name="adj" fmla="val 5644"/>
            </a:avLst>
          </a:prstGeom>
          <a:solidFill>
            <a:srgbClr val="283157"/>
          </a:solidFill>
          <a:ln w="7620">
            <a:solidFill>
              <a:srgbClr val="414A70"/>
            </a:solidFill>
            <a:prstDash val="solid"/>
          </a:ln>
        </p:spPr>
      </p:sp>
      <p:sp>
        <p:nvSpPr>
          <p:cNvPr id="14" name="Text 11"/>
          <p:cNvSpPr/>
          <p:nvPr/>
        </p:nvSpPr>
        <p:spPr>
          <a:xfrm>
            <a:off x="967026" y="6473666"/>
            <a:ext cx="2398633" cy="299799"/>
          </a:xfrm>
          <a:prstGeom prst="rect">
            <a:avLst/>
          </a:prstGeom>
          <a:noFill/>
          <a:ln/>
        </p:spPr>
        <p:txBody>
          <a:bodyPr wrap="none" lIns="0" tIns="0" rIns="0" bIns="0" rtlCol="0" anchor="t"/>
          <a:lstStyle/>
          <a:p>
            <a:pPr marL="0" indent="0" algn="l">
              <a:lnSpc>
                <a:spcPts val="2350"/>
              </a:lnSpc>
              <a:buNone/>
            </a:pPr>
            <a:r>
              <a:rPr lang="en-US" sz="1850" dirty="0">
                <a:solidFill>
                  <a:srgbClr val="EBECEF"/>
                </a:solidFill>
                <a:latin typeface="Fraunces Medium" pitchFamily="34" charset="0"/>
                <a:ea typeface="Fraunces Medium" pitchFamily="34" charset="-122"/>
                <a:cs typeface="Fraunces Medium" pitchFamily="34" charset="-120"/>
              </a:rPr>
              <a:t>Data Quality</a:t>
            </a:r>
            <a:endParaRPr lang="en-US" sz="1850" dirty="0"/>
          </a:p>
        </p:txBody>
      </p:sp>
      <p:sp>
        <p:nvSpPr>
          <p:cNvPr id="15" name="Text 12"/>
          <p:cNvSpPr/>
          <p:nvPr/>
        </p:nvSpPr>
        <p:spPr>
          <a:xfrm>
            <a:off x="967026" y="6888599"/>
            <a:ext cx="7209949" cy="614124"/>
          </a:xfrm>
          <a:prstGeom prst="rect">
            <a:avLst/>
          </a:prstGeom>
          <a:noFill/>
          <a:ln/>
        </p:spPr>
        <p:txBody>
          <a:bodyPr wrap="square" lIns="0" tIns="0" rIns="0" bIns="0" rtlCol="0" anchor="t"/>
          <a:lstStyle/>
          <a:p>
            <a:pPr marL="0" indent="0" algn="l">
              <a:lnSpc>
                <a:spcPts val="2400"/>
              </a:lnSpc>
              <a:buNone/>
            </a:pPr>
            <a:r>
              <a:rPr lang="en-US" sz="1500" dirty="0">
                <a:solidFill>
                  <a:srgbClr val="EBECEF"/>
                </a:solidFill>
                <a:latin typeface="Epilogue" pitchFamily="34" charset="0"/>
                <a:ea typeface="Epilogue" pitchFamily="34" charset="-122"/>
                <a:cs typeface="Epilogue" pitchFamily="34" charset="-120"/>
              </a:rPr>
              <a:t>37 missing values in Review Rating column; all other fields complete and validated.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676043"/>
            <a:ext cx="6781919" cy="620078"/>
          </a:xfrm>
          <a:prstGeom prst="rect">
            <a:avLst/>
          </a:prstGeom>
          <a:noFill/>
          <a:ln/>
        </p:spPr>
        <p:txBody>
          <a:bodyPr wrap="none" lIns="0" tIns="0" rIns="0" bIns="0" rtlCol="0" anchor="t"/>
          <a:lstStyle/>
          <a:p>
            <a:pPr marL="0" indent="0" algn="l">
              <a:lnSpc>
                <a:spcPts val="4850"/>
              </a:lnSpc>
              <a:buNone/>
            </a:pPr>
            <a:r>
              <a:rPr lang="en-US" sz="3900" dirty="0">
                <a:solidFill>
                  <a:srgbClr val="FFFFFF"/>
                </a:solidFill>
                <a:latin typeface="Fraunces Medium" pitchFamily="34" charset="0"/>
                <a:ea typeface="Fraunces Medium" pitchFamily="34" charset="-122"/>
                <a:cs typeface="Fraunces Medium" pitchFamily="34" charset="-120"/>
              </a:rPr>
              <a:t>Data Preparation &amp; Cleaning</a:t>
            </a:r>
            <a:endParaRPr lang="en-US" sz="3900" dirty="0"/>
          </a:p>
        </p:txBody>
      </p:sp>
      <p:sp>
        <p:nvSpPr>
          <p:cNvPr id="3" name="Text 1"/>
          <p:cNvSpPr/>
          <p:nvPr/>
        </p:nvSpPr>
        <p:spPr>
          <a:xfrm>
            <a:off x="793790" y="269295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BECEF"/>
                </a:solidFill>
                <a:latin typeface="Fraunces Light" pitchFamily="34" charset="0"/>
                <a:ea typeface="Fraunces Light" pitchFamily="34" charset="-122"/>
                <a:cs typeface="Fraunces Light" pitchFamily="34" charset="-120"/>
              </a:rPr>
              <a:t>01</a:t>
            </a:r>
            <a:endParaRPr lang="en-US" sz="1550" dirty="0"/>
          </a:p>
        </p:txBody>
      </p:sp>
      <p:sp>
        <p:nvSpPr>
          <p:cNvPr id="4" name="Shape 2"/>
          <p:cNvSpPr/>
          <p:nvPr/>
        </p:nvSpPr>
        <p:spPr>
          <a:xfrm>
            <a:off x="793790" y="3007281"/>
            <a:ext cx="4215289" cy="22860"/>
          </a:xfrm>
          <a:prstGeom prst="rect">
            <a:avLst/>
          </a:prstGeom>
          <a:solidFill>
            <a:srgbClr val="8C98CA"/>
          </a:solidFill>
          <a:ln/>
        </p:spPr>
      </p:sp>
      <p:sp>
        <p:nvSpPr>
          <p:cNvPr id="5" name="Text 3"/>
          <p:cNvSpPr/>
          <p:nvPr/>
        </p:nvSpPr>
        <p:spPr>
          <a:xfrm>
            <a:off x="793790" y="315218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Data Loading</a:t>
            </a:r>
            <a:endParaRPr lang="en-US" sz="1950" dirty="0"/>
          </a:p>
        </p:txBody>
      </p:sp>
      <p:sp>
        <p:nvSpPr>
          <p:cNvPr id="6" name="Text 4"/>
          <p:cNvSpPr/>
          <p:nvPr/>
        </p:nvSpPr>
        <p:spPr>
          <a:xfrm>
            <a:off x="793790" y="3581400"/>
            <a:ext cx="4215289" cy="95261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Imported 3,900 transaction records using pandas for initial exploration and validation.</a:t>
            </a:r>
            <a:endParaRPr lang="en-US" sz="1550" dirty="0"/>
          </a:p>
        </p:txBody>
      </p:sp>
      <p:sp>
        <p:nvSpPr>
          <p:cNvPr id="7" name="Text 5"/>
          <p:cNvSpPr/>
          <p:nvPr/>
        </p:nvSpPr>
        <p:spPr>
          <a:xfrm>
            <a:off x="5207437" y="269295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BECEF"/>
                </a:solidFill>
                <a:latin typeface="Fraunces Light" pitchFamily="34" charset="0"/>
                <a:ea typeface="Fraunces Light" pitchFamily="34" charset="-122"/>
                <a:cs typeface="Fraunces Light" pitchFamily="34" charset="-120"/>
              </a:rPr>
              <a:t>02</a:t>
            </a:r>
            <a:endParaRPr lang="en-US" sz="1550" dirty="0"/>
          </a:p>
        </p:txBody>
      </p:sp>
      <p:sp>
        <p:nvSpPr>
          <p:cNvPr id="8" name="Shape 6"/>
          <p:cNvSpPr/>
          <p:nvPr/>
        </p:nvSpPr>
        <p:spPr>
          <a:xfrm>
            <a:off x="5207437" y="3007281"/>
            <a:ext cx="4215408" cy="22860"/>
          </a:xfrm>
          <a:prstGeom prst="rect">
            <a:avLst/>
          </a:prstGeom>
          <a:solidFill>
            <a:srgbClr val="8C98CA"/>
          </a:solidFill>
          <a:ln/>
        </p:spPr>
      </p:sp>
      <p:sp>
        <p:nvSpPr>
          <p:cNvPr id="9" name="Text 7"/>
          <p:cNvSpPr/>
          <p:nvPr/>
        </p:nvSpPr>
        <p:spPr>
          <a:xfrm>
            <a:off x="5207437" y="3152180"/>
            <a:ext cx="2693194" cy="310158"/>
          </a:xfrm>
          <a:prstGeom prst="rect">
            <a:avLst/>
          </a:prstGeom>
          <a:noFill/>
          <a:ln/>
        </p:spPr>
        <p:txBody>
          <a:bodyPr wrap="none" lIns="0" tIns="0" rIns="0" bIns="0" rtlCol="0" anchor="t"/>
          <a:lstStyle/>
          <a:p>
            <a:pPr marL="0" indent="0" algn="l">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Missing Data Handling</a:t>
            </a:r>
            <a:endParaRPr lang="en-US" sz="1950" dirty="0"/>
          </a:p>
        </p:txBody>
      </p:sp>
      <p:sp>
        <p:nvSpPr>
          <p:cNvPr id="10" name="Text 8"/>
          <p:cNvSpPr/>
          <p:nvPr/>
        </p:nvSpPr>
        <p:spPr>
          <a:xfrm>
            <a:off x="5207437" y="3581400"/>
            <a:ext cx="4215408" cy="63507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Imputed 37 missing Review Rating values using median ratings by product category.</a:t>
            </a:r>
            <a:endParaRPr lang="en-US" sz="1550" dirty="0"/>
          </a:p>
        </p:txBody>
      </p:sp>
      <p:sp>
        <p:nvSpPr>
          <p:cNvPr id="11" name="Text 9"/>
          <p:cNvSpPr/>
          <p:nvPr/>
        </p:nvSpPr>
        <p:spPr>
          <a:xfrm>
            <a:off x="9621203" y="269295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BECEF"/>
                </a:solidFill>
                <a:latin typeface="Fraunces Light" pitchFamily="34" charset="0"/>
                <a:ea typeface="Fraunces Light" pitchFamily="34" charset="-122"/>
                <a:cs typeface="Fraunces Light" pitchFamily="34" charset="-120"/>
              </a:rPr>
              <a:t>03</a:t>
            </a:r>
            <a:endParaRPr lang="en-US" sz="1550" dirty="0"/>
          </a:p>
        </p:txBody>
      </p:sp>
      <p:sp>
        <p:nvSpPr>
          <p:cNvPr id="12" name="Shape 10"/>
          <p:cNvSpPr/>
          <p:nvPr/>
        </p:nvSpPr>
        <p:spPr>
          <a:xfrm>
            <a:off x="9621203" y="3007281"/>
            <a:ext cx="4215289" cy="22860"/>
          </a:xfrm>
          <a:prstGeom prst="rect">
            <a:avLst/>
          </a:prstGeom>
          <a:solidFill>
            <a:srgbClr val="8C98CA"/>
          </a:solidFill>
          <a:ln/>
        </p:spPr>
      </p:sp>
      <p:sp>
        <p:nvSpPr>
          <p:cNvPr id="13" name="Text 11"/>
          <p:cNvSpPr/>
          <p:nvPr/>
        </p:nvSpPr>
        <p:spPr>
          <a:xfrm>
            <a:off x="9621203" y="3152180"/>
            <a:ext cx="2893933" cy="310158"/>
          </a:xfrm>
          <a:prstGeom prst="rect">
            <a:avLst/>
          </a:prstGeom>
          <a:noFill/>
          <a:ln/>
        </p:spPr>
        <p:txBody>
          <a:bodyPr wrap="none" lIns="0" tIns="0" rIns="0" bIns="0" rtlCol="0" anchor="t"/>
          <a:lstStyle/>
          <a:p>
            <a:pPr marL="0" indent="0" algn="l">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Column Standardization</a:t>
            </a:r>
            <a:endParaRPr lang="en-US" sz="1950" dirty="0"/>
          </a:p>
        </p:txBody>
      </p:sp>
      <p:sp>
        <p:nvSpPr>
          <p:cNvPr id="14" name="Text 12"/>
          <p:cNvSpPr/>
          <p:nvPr/>
        </p:nvSpPr>
        <p:spPr>
          <a:xfrm>
            <a:off x="9621203" y="3581400"/>
            <a:ext cx="4215289" cy="95261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Renamed all columns to snake_case format for consistency and improved readability.</a:t>
            </a:r>
            <a:endParaRPr lang="en-US" sz="1550" dirty="0"/>
          </a:p>
        </p:txBody>
      </p:sp>
      <p:sp>
        <p:nvSpPr>
          <p:cNvPr id="15" name="Text 13"/>
          <p:cNvSpPr/>
          <p:nvPr/>
        </p:nvSpPr>
        <p:spPr>
          <a:xfrm>
            <a:off x="793790" y="48812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BECEF"/>
                </a:solidFill>
                <a:latin typeface="Fraunces Light" pitchFamily="34" charset="0"/>
                <a:ea typeface="Fraunces Light" pitchFamily="34" charset="-122"/>
                <a:cs typeface="Fraunces Light" pitchFamily="34" charset="-120"/>
              </a:rPr>
              <a:t>04</a:t>
            </a:r>
            <a:endParaRPr lang="en-US" sz="1550" dirty="0"/>
          </a:p>
        </p:txBody>
      </p:sp>
      <p:sp>
        <p:nvSpPr>
          <p:cNvPr id="16" name="Shape 14"/>
          <p:cNvSpPr/>
          <p:nvPr/>
        </p:nvSpPr>
        <p:spPr>
          <a:xfrm>
            <a:off x="793790" y="5195530"/>
            <a:ext cx="6422112" cy="22860"/>
          </a:xfrm>
          <a:prstGeom prst="rect">
            <a:avLst/>
          </a:prstGeom>
          <a:solidFill>
            <a:srgbClr val="8C98CA"/>
          </a:solidFill>
          <a:ln/>
        </p:spPr>
      </p:sp>
      <p:sp>
        <p:nvSpPr>
          <p:cNvPr id="17" name="Text 15"/>
          <p:cNvSpPr/>
          <p:nvPr/>
        </p:nvSpPr>
        <p:spPr>
          <a:xfrm>
            <a:off x="793790" y="534042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Feature Engineering</a:t>
            </a:r>
            <a:endParaRPr lang="en-US" sz="1950" dirty="0"/>
          </a:p>
        </p:txBody>
      </p:sp>
      <p:sp>
        <p:nvSpPr>
          <p:cNvPr id="18" name="Text 16"/>
          <p:cNvSpPr/>
          <p:nvPr/>
        </p:nvSpPr>
        <p:spPr>
          <a:xfrm>
            <a:off x="793790" y="5769650"/>
            <a:ext cx="6422112" cy="63507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Created age_group bins and purchase_frequency_days columns for deeper segmentation analysis.</a:t>
            </a:r>
            <a:endParaRPr lang="en-US" sz="1550" dirty="0"/>
          </a:p>
        </p:txBody>
      </p:sp>
      <p:sp>
        <p:nvSpPr>
          <p:cNvPr id="19" name="Text 17"/>
          <p:cNvSpPr/>
          <p:nvPr/>
        </p:nvSpPr>
        <p:spPr>
          <a:xfrm>
            <a:off x="7414260" y="48812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BECEF"/>
                </a:solidFill>
                <a:latin typeface="Fraunces Light" pitchFamily="34" charset="0"/>
                <a:ea typeface="Fraunces Light" pitchFamily="34" charset="-122"/>
                <a:cs typeface="Fraunces Light" pitchFamily="34" charset="-120"/>
              </a:rPr>
              <a:t>05</a:t>
            </a:r>
            <a:endParaRPr lang="en-US" sz="1550" dirty="0"/>
          </a:p>
        </p:txBody>
      </p:sp>
      <p:sp>
        <p:nvSpPr>
          <p:cNvPr id="20" name="Shape 18"/>
          <p:cNvSpPr/>
          <p:nvPr/>
        </p:nvSpPr>
        <p:spPr>
          <a:xfrm>
            <a:off x="7414260" y="5195530"/>
            <a:ext cx="6422231" cy="22860"/>
          </a:xfrm>
          <a:prstGeom prst="rect">
            <a:avLst/>
          </a:prstGeom>
          <a:solidFill>
            <a:srgbClr val="8C98CA"/>
          </a:solidFill>
          <a:ln/>
        </p:spPr>
      </p:sp>
      <p:sp>
        <p:nvSpPr>
          <p:cNvPr id="21" name="Text 19"/>
          <p:cNvSpPr/>
          <p:nvPr/>
        </p:nvSpPr>
        <p:spPr>
          <a:xfrm>
            <a:off x="7414260" y="5340429"/>
            <a:ext cx="2494598" cy="310158"/>
          </a:xfrm>
          <a:prstGeom prst="rect">
            <a:avLst/>
          </a:prstGeom>
          <a:noFill/>
          <a:ln/>
        </p:spPr>
        <p:txBody>
          <a:bodyPr wrap="none" lIns="0" tIns="0" rIns="0" bIns="0" rtlCol="0" anchor="t"/>
          <a:lstStyle/>
          <a:p>
            <a:pPr marL="0" indent="0" algn="l">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Database Integration</a:t>
            </a:r>
            <a:endParaRPr lang="en-US" sz="1950" dirty="0"/>
          </a:p>
        </p:txBody>
      </p:sp>
      <p:sp>
        <p:nvSpPr>
          <p:cNvPr id="22" name="Text 20"/>
          <p:cNvSpPr/>
          <p:nvPr/>
        </p:nvSpPr>
        <p:spPr>
          <a:xfrm>
            <a:off x="7414260" y="576965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Connected Python script to PostgreSQL and loaded cleaned data for SQL-based business analysis.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74495"/>
            <a:ext cx="9455348" cy="620078"/>
          </a:xfrm>
          <a:prstGeom prst="rect">
            <a:avLst/>
          </a:prstGeom>
          <a:noFill/>
          <a:ln/>
        </p:spPr>
        <p:txBody>
          <a:bodyPr wrap="none" lIns="0" tIns="0" rIns="0" bIns="0" rtlCol="0" anchor="t"/>
          <a:lstStyle/>
          <a:p>
            <a:pPr marL="0" indent="0" algn="l">
              <a:lnSpc>
                <a:spcPts val="4850"/>
              </a:lnSpc>
              <a:buNone/>
            </a:pPr>
            <a:r>
              <a:rPr lang="en-US" sz="3900" dirty="0">
                <a:solidFill>
                  <a:srgbClr val="FFFFFF"/>
                </a:solidFill>
                <a:latin typeface="Fraunces Medium" pitchFamily="34" charset="0"/>
                <a:ea typeface="Fraunces Medium" pitchFamily="34" charset="-122"/>
                <a:cs typeface="Fraunces Medium" pitchFamily="34" charset="-120"/>
              </a:rPr>
              <a:t>Revenue Analysis by Customer Segment</a:t>
            </a:r>
            <a:endParaRPr lang="en-US" sz="3900" dirty="0"/>
          </a:p>
        </p:txBody>
      </p:sp>
      <p:sp>
        <p:nvSpPr>
          <p:cNvPr id="3" name="Text 1"/>
          <p:cNvSpPr/>
          <p:nvPr/>
        </p:nvSpPr>
        <p:spPr>
          <a:xfrm>
            <a:off x="793790" y="279058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Fraunces Medium" pitchFamily="34" charset="0"/>
                <a:ea typeface="Fraunces Medium" pitchFamily="34" charset="-122"/>
                <a:cs typeface="Fraunces Medium" pitchFamily="34" charset="-120"/>
              </a:rPr>
              <a:t>Revenue by Gender</a:t>
            </a:r>
            <a:endParaRPr lang="en-US" sz="1950" dirty="0"/>
          </a:p>
        </p:txBody>
      </p:sp>
      <p:sp>
        <p:nvSpPr>
          <p:cNvPr id="4" name="Text 2"/>
          <p:cNvSpPr/>
          <p:nvPr/>
        </p:nvSpPr>
        <p:spPr>
          <a:xfrm>
            <a:off x="793790" y="3299103"/>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Male customers generated significantly higher revenue at $157,890 compared to female customers at $75,191, representing a 2:1 ratio in spending contribution.</a:t>
            </a:r>
            <a:endParaRPr lang="en-US" sz="1550" dirty="0"/>
          </a:p>
        </p:txBody>
      </p:sp>
      <p:pic>
        <p:nvPicPr>
          <p:cNvPr id="5" name="Image 0" descr="preencoded.png"/>
          <p:cNvPicPr>
            <a:picLocks noChangeAspect="1"/>
          </p:cNvPicPr>
          <p:nvPr/>
        </p:nvPicPr>
        <p:blipFill>
          <a:blip r:embed="rId3"/>
          <a:stretch>
            <a:fillRect/>
          </a:stretch>
        </p:blipFill>
        <p:spPr>
          <a:xfrm>
            <a:off x="7564874" y="2815471"/>
            <a:ext cx="6279356" cy="35163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034778"/>
            <a:ext cx="11382613" cy="620078"/>
          </a:xfrm>
          <a:prstGeom prst="rect">
            <a:avLst/>
          </a:prstGeom>
          <a:noFill/>
          <a:ln/>
        </p:spPr>
        <p:txBody>
          <a:bodyPr wrap="none" lIns="0" tIns="0" rIns="0" bIns="0" rtlCol="0" anchor="t"/>
          <a:lstStyle/>
          <a:p>
            <a:pPr marL="0" indent="0" algn="l">
              <a:lnSpc>
                <a:spcPts val="4850"/>
              </a:lnSpc>
              <a:buNone/>
            </a:pPr>
            <a:r>
              <a:rPr lang="en-US" sz="3900" dirty="0">
                <a:solidFill>
                  <a:srgbClr val="FFFFFF"/>
                </a:solidFill>
                <a:latin typeface="Fraunces Medium" pitchFamily="34" charset="0"/>
                <a:ea typeface="Fraunces Medium" pitchFamily="34" charset="-122"/>
                <a:cs typeface="Fraunces Medium" pitchFamily="34" charset="-120"/>
              </a:rPr>
              <a:t>Customer Segmentation &amp; Subscription Insights</a:t>
            </a:r>
            <a:endParaRPr lang="en-US" sz="3900" dirty="0"/>
          </a:p>
        </p:txBody>
      </p:sp>
      <p:sp>
        <p:nvSpPr>
          <p:cNvPr id="3" name="Text 1"/>
          <p:cNvSpPr/>
          <p:nvPr/>
        </p:nvSpPr>
        <p:spPr>
          <a:xfrm>
            <a:off x="793790" y="3051691"/>
            <a:ext cx="4182189" cy="654963"/>
          </a:xfrm>
          <a:prstGeom prst="rect">
            <a:avLst/>
          </a:prstGeom>
          <a:noFill/>
          <a:ln/>
        </p:spPr>
        <p:txBody>
          <a:bodyPr wrap="none" lIns="0" tIns="0" rIns="0" bIns="0" rtlCol="0" anchor="t"/>
          <a:lstStyle/>
          <a:p>
            <a:pPr marL="0" indent="0" algn="ctr">
              <a:lnSpc>
                <a:spcPts val="5150"/>
              </a:lnSpc>
              <a:buNone/>
            </a:pPr>
            <a:r>
              <a:rPr lang="en-US" sz="5150" dirty="0">
                <a:solidFill>
                  <a:srgbClr val="EBECEF"/>
                </a:solidFill>
                <a:latin typeface="Fraunces Medium" pitchFamily="34" charset="0"/>
                <a:ea typeface="Fraunces Medium" pitchFamily="34" charset="-122"/>
                <a:cs typeface="Fraunces Medium" pitchFamily="34" charset="-120"/>
              </a:rPr>
              <a:t>3,116</a:t>
            </a:r>
            <a:endParaRPr lang="en-US" sz="5150" dirty="0"/>
          </a:p>
        </p:txBody>
      </p:sp>
      <p:sp>
        <p:nvSpPr>
          <p:cNvPr id="4" name="Text 2"/>
          <p:cNvSpPr/>
          <p:nvPr/>
        </p:nvSpPr>
        <p:spPr>
          <a:xfrm>
            <a:off x="1644372" y="3954661"/>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Loyal Customers</a:t>
            </a:r>
            <a:endParaRPr lang="en-US" sz="1950" dirty="0"/>
          </a:p>
        </p:txBody>
      </p:sp>
      <p:sp>
        <p:nvSpPr>
          <p:cNvPr id="5" name="Text 3"/>
          <p:cNvSpPr/>
          <p:nvPr/>
        </p:nvSpPr>
        <p:spPr>
          <a:xfrm>
            <a:off x="793790" y="4383881"/>
            <a:ext cx="4182189" cy="635079"/>
          </a:xfrm>
          <a:prstGeom prst="rect">
            <a:avLst/>
          </a:prstGeom>
          <a:noFill/>
          <a:ln/>
        </p:spPr>
        <p:txBody>
          <a:bodyPr wrap="square" lIns="0" tIns="0" rIns="0" bIns="0" rtlCol="0" anchor="t"/>
          <a:lstStyle/>
          <a:p>
            <a:pPr marL="0" indent="0" algn="ctr">
              <a:lnSpc>
                <a:spcPts val="2500"/>
              </a:lnSpc>
              <a:buNone/>
            </a:pPr>
            <a:r>
              <a:rPr lang="en-US" sz="1550" dirty="0">
                <a:solidFill>
                  <a:srgbClr val="EBECEF"/>
                </a:solidFill>
                <a:latin typeface="Epilogue" pitchFamily="34" charset="0"/>
                <a:ea typeface="Epilogue" pitchFamily="34" charset="-122"/>
                <a:cs typeface="Epilogue" pitchFamily="34" charset="-120"/>
              </a:rPr>
              <a:t>Established customer base with strong repeat purchase history.</a:t>
            </a:r>
            <a:endParaRPr lang="en-US" sz="1550" dirty="0"/>
          </a:p>
        </p:txBody>
      </p:sp>
      <p:sp>
        <p:nvSpPr>
          <p:cNvPr id="6" name="Text 4"/>
          <p:cNvSpPr/>
          <p:nvPr/>
        </p:nvSpPr>
        <p:spPr>
          <a:xfrm>
            <a:off x="5223986" y="3051691"/>
            <a:ext cx="4182308" cy="654963"/>
          </a:xfrm>
          <a:prstGeom prst="rect">
            <a:avLst/>
          </a:prstGeom>
          <a:noFill/>
          <a:ln/>
        </p:spPr>
        <p:txBody>
          <a:bodyPr wrap="none" lIns="0" tIns="0" rIns="0" bIns="0" rtlCol="0" anchor="t"/>
          <a:lstStyle/>
          <a:p>
            <a:pPr marL="0" indent="0" algn="ctr">
              <a:lnSpc>
                <a:spcPts val="5150"/>
              </a:lnSpc>
              <a:buNone/>
            </a:pPr>
            <a:r>
              <a:rPr lang="en-US" sz="5150" dirty="0">
                <a:solidFill>
                  <a:srgbClr val="EBECEF"/>
                </a:solidFill>
                <a:latin typeface="Fraunces Medium" pitchFamily="34" charset="0"/>
                <a:ea typeface="Fraunces Medium" pitchFamily="34" charset="-122"/>
                <a:cs typeface="Fraunces Medium" pitchFamily="34" charset="-120"/>
              </a:rPr>
              <a:t>701</a:t>
            </a:r>
            <a:endParaRPr lang="en-US" sz="5150" dirty="0"/>
          </a:p>
        </p:txBody>
      </p:sp>
      <p:sp>
        <p:nvSpPr>
          <p:cNvPr id="7" name="Text 5"/>
          <p:cNvSpPr/>
          <p:nvPr/>
        </p:nvSpPr>
        <p:spPr>
          <a:xfrm>
            <a:off x="6043493" y="3954661"/>
            <a:ext cx="2543294" cy="310158"/>
          </a:xfrm>
          <a:prstGeom prst="rect">
            <a:avLst/>
          </a:prstGeom>
          <a:noFill/>
          <a:ln/>
        </p:spPr>
        <p:txBody>
          <a:bodyPr wrap="none" lIns="0" tIns="0" rIns="0" bIns="0" rtlCol="0" anchor="t"/>
          <a:lstStyle/>
          <a:p>
            <a:pPr marL="0" indent="0" algn="ctr">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Returning Customers</a:t>
            </a:r>
            <a:endParaRPr lang="en-US" sz="1950" dirty="0"/>
          </a:p>
        </p:txBody>
      </p:sp>
      <p:sp>
        <p:nvSpPr>
          <p:cNvPr id="8" name="Text 6"/>
          <p:cNvSpPr/>
          <p:nvPr/>
        </p:nvSpPr>
        <p:spPr>
          <a:xfrm>
            <a:off x="5223986" y="4383881"/>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EBECEF"/>
                </a:solidFill>
                <a:latin typeface="Epilogue" pitchFamily="34" charset="0"/>
                <a:ea typeface="Epilogue" pitchFamily="34" charset="-122"/>
                <a:cs typeface="Epilogue" pitchFamily="34" charset="-120"/>
              </a:rPr>
              <a:t>Growing segment showing consistent engagement and repeat behavior.</a:t>
            </a:r>
            <a:endParaRPr lang="en-US" sz="1550" dirty="0"/>
          </a:p>
        </p:txBody>
      </p:sp>
      <p:sp>
        <p:nvSpPr>
          <p:cNvPr id="9" name="Text 7"/>
          <p:cNvSpPr/>
          <p:nvPr/>
        </p:nvSpPr>
        <p:spPr>
          <a:xfrm>
            <a:off x="9654302" y="3051691"/>
            <a:ext cx="4182308" cy="654963"/>
          </a:xfrm>
          <a:prstGeom prst="rect">
            <a:avLst/>
          </a:prstGeom>
          <a:noFill/>
          <a:ln/>
        </p:spPr>
        <p:txBody>
          <a:bodyPr wrap="none" lIns="0" tIns="0" rIns="0" bIns="0" rtlCol="0" anchor="t"/>
          <a:lstStyle/>
          <a:p>
            <a:pPr marL="0" indent="0" algn="ctr">
              <a:lnSpc>
                <a:spcPts val="5150"/>
              </a:lnSpc>
              <a:buNone/>
            </a:pPr>
            <a:r>
              <a:rPr lang="en-US" sz="5150" dirty="0">
                <a:solidFill>
                  <a:srgbClr val="EBECEF"/>
                </a:solidFill>
                <a:latin typeface="Fraunces Medium" pitchFamily="34" charset="0"/>
                <a:ea typeface="Fraunces Medium" pitchFamily="34" charset="-122"/>
                <a:cs typeface="Fraunces Medium" pitchFamily="34" charset="-120"/>
              </a:rPr>
              <a:t>83</a:t>
            </a:r>
            <a:endParaRPr lang="en-US" sz="5150" dirty="0"/>
          </a:p>
        </p:txBody>
      </p:sp>
      <p:sp>
        <p:nvSpPr>
          <p:cNvPr id="10" name="Text 8"/>
          <p:cNvSpPr/>
          <p:nvPr/>
        </p:nvSpPr>
        <p:spPr>
          <a:xfrm>
            <a:off x="10505003" y="3954661"/>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New Customers</a:t>
            </a:r>
            <a:endParaRPr lang="en-US" sz="1950" dirty="0"/>
          </a:p>
        </p:txBody>
      </p:sp>
      <p:sp>
        <p:nvSpPr>
          <p:cNvPr id="11" name="Text 9"/>
          <p:cNvSpPr/>
          <p:nvPr/>
        </p:nvSpPr>
        <p:spPr>
          <a:xfrm>
            <a:off x="9654302" y="4383881"/>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EBECEF"/>
                </a:solidFill>
                <a:latin typeface="Epilogue" pitchFamily="34" charset="0"/>
                <a:ea typeface="Epilogue" pitchFamily="34" charset="-122"/>
                <a:cs typeface="Epilogue" pitchFamily="34" charset="-120"/>
              </a:rPr>
              <a:t>Entry-level segment representing growth opportunity for conversion.</a:t>
            </a:r>
            <a:endParaRPr lang="en-US" sz="1550" dirty="0"/>
          </a:p>
        </p:txBody>
      </p:sp>
      <p:sp>
        <p:nvSpPr>
          <p:cNvPr id="12" name="Text 10"/>
          <p:cNvSpPr/>
          <p:nvPr/>
        </p:nvSpPr>
        <p:spPr>
          <a:xfrm>
            <a:off x="793790" y="5242203"/>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Subscribers (1,053 customers) averaged $59.49 per purchase with $62,645 total revenue, while non-subscribers (2,847 customers) averaged $59.87 per purchase with $170,436 total revenue. Despite higher individual spending, non-subscribers represent the larger revenue base due to volume.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74495"/>
            <a:ext cx="7529393" cy="620078"/>
          </a:xfrm>
          <a:prstGeom prst="rect">
            <a:avLst/>
          </a:prstGeom>
          <a:noFill/>
          <a:ln/>
        </p:spPr>
        <p:txBody>
          <a:bodyPr wrap="none" lIns="0" tIns="0" rIns="0" bIns="0" rtlCol="0" anchor="t"/>
          <a:lstStyle/>
          <a:p>
            <a:pPr marL="0" indent="0" algn="l">
              <a:lnSpc>
                <a:spcPts val="4850"/>
              </a:lnSpc>
              <a:buNone/>
            </a:pPr>
            <a:r>
              <a:rPr lang="en-US" sz="3900" dirty="0">
                <a:solidFill>
                  <a:srgbClr val="FFFFFF"/>
                </a:solidFill>
                <a:latin typeface="Fraunces Medium" pitchFamily="34" charset="0"/>
                <a:ea typeface="Fraunces Medium" pitchFamily="34" charset="-122"/>
                <a:cs typeface="Fraunces Medium" pitchFamily="34" charset="-120"/>
              </a:rPr>
              <a:t>Product Performance &amp; Ratings</a:t>
            </a:r>
            <a:endParaRPr lang="en-US" sz="3900" dirty="0"/>
          </a:p>
        </p:txBody>
      </p:sp>
      <p:sp>
        <p:nvSpPr>
          <p:cNvPr id="3" name="Text 1"/>
          <p:cNvSpPr/>
          <p:nvPr/>
        </p:nvSpPr>
        <p:spPr>
          <a:xfrm>
            <a:off x="793790" y="279058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Fraunces Medium" pitchFamily="34" charset="0"/>
                <a:ea typeface="Fraunces Medium" pitchFamily="34" charset="-122"/>
                <a:cs typeface="Fraunces Medium" pitchFamily="34" charset="-120"/>
              </a:rPr>
              <a:t>Top-Rated Products</a:t>
            </a:r>
            <a:endParaRPr lang="en-US" sz="1950" dirty="0"/>
          </a:p>
        </p:txBody>
      </p:sp>
      <p:sp>
        <p:nvSpPr>
          <p:cNvPr id="4" name="Text 2"/>
          <p:cNvSpPr/>
          <p:nvPr/>
        </p:nvSpPr>
        <p:spPr>
          <a:xfrm>
            <a:off x="793790" y="3299103"/>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Gloves lead with 3.86 average rating, followed by Sandals (3.84), Boots (3.82), Hat (3.80), and Skirt (3.78). These products consistently deliver customer satisfaction and represent quality benchmarks for the portfolio.</a:t>
            </a:r>
            <a:endParaRPr lang="en-US" sz="1550" dirty="0"/>
          </a:p>
        </p:txBody>
      </p:sp>
      <p:pic>
        <p:nvPicPr>
          <p:cNvPr id="5" name="Image 0" descr="preencoded.png"/>
          <p:cNvPicPr>
            <a:picLocks noChangeAspect="1"/>
          </p:cNvPicPr>
          <p:nvPr/>
        </p:nvPicPr>
        <p:blipFill>
          <a:blip r:embed="rId3"/>
          <a:stretch>
            <a:fillRect/>
          </a:stretch>
        </p:blipFill>
        <p:spPr>
          <a:xfrm>
            <a:off x="7564874" y="2815471"/>
            <a:ext cx="6279356" cy="35163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04580"/>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FFFFFF"/>
                </a:solidFill>
                <a:latin typeface="Fraunces Medium" pitchFamily="34" charset="0"/>
                <a:ea typeface="Fraunces Medium" pitchFamily="34" charset="-122"/>
                <a:cs typeface="Fraunces Medium" pitchFamily="34" charset="-120"/>
              </a:rPr>
              <a:t>Discount Strategy &amp; Shipping Analysis</a:t>
            </a:r>
            <a:endParaRPr lang="en-US" sz="3900" dirty="0"/>
          </a:p>
        </p:txBody>
      </p:sp>
      <p:sp>
        <p:nvSpPr>
          <p:cNvPr id="4" name="Shape 1"/>
          <p:cNvSpPr/>
          <p:nvPr/>
        </p:nvSpPr>
        <p:spPr>
          <a:xfrm>
            <a:off x="793790" y="2942392"/>
            <a:ext cx="7556421" cy="3882509"/>
          </a:xfrm>
          <a:prstGeom prst="roundRect">
            <a:avLst>
              <a:gd name="adj" fmla="val 2147"/>
            </a:avLst>
          </a:prstGeom>
          <a:solidFill>
            <a:srgbClr val="283157"/>
          </a:solidFill>
          <a:ln w="7620">
            <a:solidFill>
              <a:srgbClr val="414A70"/>
            </a:solidFill>
            <a:prstDash val="solid"/>
          </a:ln>
        </p:spPr>
      </p:sp>
      <p:sp>
        <p:nvSpPr>
          <p:cNvPr id="5" name="Shape 2"/>
          <p:cNvSpPr/>
          <p:nvPr/>
        </p:nvSpPr>
        <p:spPr>
          <a:xfrm>
            <a:off x="801410" y="2950012"/>
            <a:ext cx="3770590" cy="2406253"/>
          </a:xfrm>
          <a:prstGeom prst="roundRect">
            <a:avLst>
              <a:gd name="adj" fmla="val 3464"/>
            </a:avLst>
          </a:prstGeom>
          <a:solidFill>
            <a:srgbClr val="283157"/>
          </a:solidFill>
          <a:ln/>
        </p:spPr>
      </p:sp>
      <p:sp>
        <p:nvSpPr>
          <p:cNvPr id="6" name="Text 3"/>
          <p:cNvSpPr/>
          <p:nvPr/>
        </p:nvSpPr>
        <p:spPr>
          <a:xfrm>
            <a:off x="999768" y="3148370"/>
            <a:ext cx="3373874" cy="620316"/>
          </a:xfrm>
          <a:prstGeom prst="rect">
            <a:avLst/>
          </a:prstGeom>
          <a:noFill/>
          <a:ln/>
        </p:spPr>
        <p:txBody>
          <a:bodyPr wrap="square" lIns="0" tIns="0" rIns="0" bIns="0" rtlCol="0" anchor="t"/>
          <a:lstStyle/>
          <a:p>
            <a:pPr marL="0" indent="0" algn="l">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Discount-Dependent Products</a:t>
            </a:r>
            <a:endParaRPr lang="en-US" sz="1950" dirty="0"/>
          </a:p>
        </p:txBody>
      </p:sp>
      <p:sp>
        <p:nvSpPr>
          <p:cNvPr id="7" name="Text 4"/>
          <p:cNvSpPr/>
          <p:nvPr/>
        </p:nvSpPr>
        <p:spPr>
          <a:xfrm>
            <a:off x="999768" y="3887748"/>
            <a:ext cx="3373874" cy="127015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Hat (50%), Sneakers (49.66%), and Coat (49.07%) show highest discount rates, indicating price sensitivity in these categories.</a:t>
            </a:r>
            <a:endParaRPr lang="en-US" sz="1550" dirty="0"/>
          </a:p>
        </p:txBody>
      </p:sp>
      <p:sp>
        <p:nvSpPr>
          <p:cNvPr id="8" name="Shape 5"/>
          <p:cNvSpPr/>
          <p:nvPr/>
        </p:nvSpPr>
        <p:spPr>
          <a:xfrm>
            <a:off x="4572000" y="2950012"/>
            <a:ext cx="3770590" cy="2406253"/>
          </a:xfrm>
          <a:prstGeom prst="rect">
            <a:avLst/>
          </a:prstGeom>
          <a:solidFill>
            <a:srgbClr val="283157"/>
          </a:solidFill>
          <a:ln/>
        </p:spPr>
      </p:sp>
      <p:sp>
        <p:nvSpPr>
          <p:cNvPr id="9" name="Shape 6"/>
          <p:cNvSpPr/>
          <p:nvPr/>
        </p:nvSpPr>
        <p:spPr>
          <a:xfrm>
            <a:off x="4572000" y="2950012"/>
            <a:ext cx="22860" cy="2406253"/>
          </a:xfrm>
          <a:prstGeom prst="roundRect">
            <a:avLst>
              <a:gd name="adj" fmla="val 364651"/>
            </a:avLst>
          </a:prstGeom>
          <a:solidFill>
            <a:srgbClr val="414A70"/>
          </a:solidFill>
          <a:ln/>
        </p:spPr>
      </p:sp>
      <p:sp>
        <p:nvSpPr>
          <p:cNvPr id="10" name="Text 7"/>
          <p:cNvSpPr/>
          <p:nvPr/>
        </p:nvSpPr>
        <p:spPr>
          <a:xfrm>
            <a:off x="4770358" y="3148370"/>
            <a:ext cx="3373874" cy="620316"/>
          </a:xfrm>
          <a:prstGeom prst="rect">
            <a:avLst/>
          </a:prstGeom>
          <a:noFill/>
          <a:ln/>
        </p:spPr>
        <p:txBody>
          <a:bodyPr wrap="square" lIns="0" tIns="0" rIns="0" bIns="0" rtlCol="0" anchor="t"/>
          <a:lstStyle/>
          <a:p>
            <a:pPr marL="0" indent="0" algn="l">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High-Spending Discount Users</a:t>
            </a:r>
            <a:endParaRPr lang="en-US" sz="1950" dirty="0"/>
          </a:p>
        </p:txBody>
      </p:sp>
      <p:sp>
        <p:nvSpPr>
          <p:cNvPr id="11" name="Text 8"/>
          <p:cNvSpPr/>
          <p:nvPr/>
        </p:nvSpPr>
        <p:spPr>
          <a:xfrm>
            <a:off x="4770358" y="3887748"/>
            <a:ext cx="3373874" cy="127015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839 customers used discounts while spending above average purchase amount, demonstrating effective promotional strategy.</a:t>
            </a:r>
            <a:endParaRPr lang="en-US" sz="1550" dirty="0"/>
          </a:p>
        </p:txBody>
      </p:sp>
      <p:sp>
        <p:nvSpPr>
          <p:cNvPr id="12" name="Shape 9"/>
          <p:cNvSpPr/>
          <p:nvPr/>
        </p:nvSpPr>
        <p:spPr>
          <a:xfrm>
            <a:off x="801410" y="5356265"/>
            <a:ext cx="7541181" cy="1461016"/>
          </a:xfrm>
          <a:prstGeom prst="rect">
            <a:avLst/>
          </a:prstGeom>
          <a:solidFill>
            <a:srgbClr val="283157"/>
          </a:solidFill>
          <a:ln/>
        </p:spPr>
      </p:sp>
      <p:sp>
        <p:nvSpPr>
          <p:cNvPr id="13" name="Shape 10"/>
          <p:cNvSpPr/>
          <p:nvPr/>
        </p:nvSpPr>
        <p:spPr>
          <a:xfrm>
            <a:off x="801410" y="5356265"/>
            <a:ext cx="7541181" cy="22860"/>
          </a:xfrm>
          <a:prstGeom prst="roundRect">
            <a:avLst>
              <a:gd name="adj" fmla="val 364651"/>
            </a:avLst>
          </a:prstGeom>
          <a:solidFill>
            <a:srgbClr val="414A70"/>
          </a:solidFill>
          <a:ln/>
        </p:spPr>
      </p:sp>
      <p:sp>
        <p:nvSpPr>
          <p:cNvPr id="14" name="Text 11"/>
          <p:cNvSpPr/>
          <p:nvPr/>
        </p:nvSpPr>
        <p:spPr>
          <a:xfrm>
            <a:off x="999768" y="5554623"/>
            <a:ext cx="2535912" cy="310158"/>
          </a:xfrm>
          <a:prstGeom prst="rect">
            <a:avLst/>
          </a:prstGeom>
          <a:noFill/>
          <a:ln/>
        </p:spPr>
        <p:txBody>
          <a:bodyPr wrap="none" lIns="0" tIns="0" rIns="0" bIns="0" rtlCol="0" anchor="t"/>
          <a:lstStyle/>
          <a:p>
            <a:pPr marL="0" indent="0" algn="l">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Shipping Preferences</a:t>
            </a:r>
            <a:endParaRPr lang="en-US" sz="1950" dirty="0"/>
          </a:p>
        </p:txBody>
      </p:sp>
      <p:sp>
        <p:nvSpPr>
          <p:cNvPr id="15" name="Text 12"/>
          <p:cNvSpPr/>
          <p:nvPr/>
        </p:nvSpPr>
        <p:spPr>
          <a:xfrm>
            <a:off x="999768" y="5983843"/>
            <a:ext cx="7144464" cy="63507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Express shipping averages $60.48 per order versus Standard shipping at $58.46, showing customers value speed for higher-value purchases.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3401" y="373618"/>
            <a:ext cx="5388293" cy="424577"/>
          </a:xfrm>
          <a:prstGeom prst="rect">
            <a:avLst/>
          </a:prstGeom>
          <a:noFill/>
          <a:ln/>
        </p:spPr>
        <p:txBody>
          <a:bodyPr wrap="none" lIns="0" tIns="0" rIns="0" bIns="0" rtlCol="0" anchor="t"/>
          <a:lstStyle/>
          <a:p>
            <a:pPr marL="0" indent="0" algn="l">
              <a:lnSpc>
                <a:spcPts val="3300"/>
              </a:lnSpc>
              <a:buNone/>
            </a:pPr>
            <a:r>
              <a:rPr lang="en-US" sz="2650" dirty="0">
                <a:solidFill>
                  <a:srgbClr val="FFFFFF"/>
                </a:solidFill>
                <a:latin typeface="Fraunces Medium" pitchFamily="34" charset="0"/>
                <a:ea typeface="Fraunces Medium" pitchFamily="34" charset="-122"/>
                <a:cs typeface="Fraunces Medium" pitchFamily="34" charset="-120"/>
              </a:rPr>
              <a:t>Category &amp; Product Performance</a:t>
            </a:r>
            <a:endParaRPr lang="en-US" sz="2650" dirty="0"/>
          </a:p>
        </p:txBody>
      </p:sp>
      <p:sp>
        <p:nvSpPr>
          <p:cNvPr id="3" name="Text 1"/>
          <p:cNvSpPr/>
          <p:nvPr/>
        </p:nvSpPr>
        <p:spPr>
          <a:xfrm>
            <a:off x="543401" y="1069895"/>
            <a:ext cx="13707858" cy="825811"/>
          </a:xfrm>
          <a:prstGeom prst="rect">
            <a:avLst/>
          </a:prstGeom>
          <a:noFill/>
          <a:ln/>
        </p:spPr>
        <p:txBody>
          <a:bodyPr wrap="square" lIns="0" tIns="0" rIns="0" bIns="0" rtlCol="0" anchor="t"/>
          <a:lstStyle/>
          <a:p>
            <a:pPr marL="0" indent="0" algn="l">
              <a:lnSpc>
                <a:spcPts val="1700"/>
              </a:lnSpc>
              <a:buNone/>
            </a:pPr>
            <a:r>
              <a:rPr lang="en-US" sz="1400" dirty="0">
                <a:solidFill>
                  <a:srgbClr val="EBECEF"/>
                </a:solidFill>
                <a:latin typeface="Epilogue" pitchFamily="34" charset="0"/>
                <a:ea typeface="Epilogue" pitchFamily="34" charset="-122"/>
                <a:cs typeface="Epilogue" pitchFamily="34" charset="-120"/>
              </a:rPr>
              <a:t>Analysis across four major categories reveals distinct purchasing patterns. Accessories leads with Jewelry (171 orders), followed by Clothing with Blouse (171 orders), Footwear with Sandals (160 orders), and Outerwear with Jacket (163 orders). Each category demonstrates strong performance with balanced product distribution.</a:t>
            </a:r>
            <a:endParaRPr lang="en-US" sz="1400" dirty="0"/>
          </a:p>
        </p:txBody>
      </p:sp>
      <p:pic>
        <p:nvPicPr>
          <p:cNvPr id="4" name="Image 0" descr="preencoded.png"/>
          <p:cNvPicPr>
            <a:picLocks noChangeAspect="1"/>
          </p:cNvPicPr>
          <p:nvPr/>
        </p:nvPicPr>
        <p:blipFill>
          <a:blip r:embed="rId3"/>
          <a:stretch>
            <a:fillRect/>
          </a:stretch>
        </p:blipFill>
        <p:spPr>
          <a:xfrm>
            <a:off x="2026513" y="2059243"/>
            <a:ext cx="10351340" cy="57967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245275"/>
            <a:ext cx="11139964" cy="620078"/>
          </a:xfrm>
          <a:prstGeom prst="rect">
            <a:avLst/>
          </a:prstGeom>
          <a:noFill/>
          <a:ln/>
        </p:spPr>
        <p:txBody>
          <a:bodyPr wrap="none" lIns="0" tIns="0" rIns="0" bIns="0" rtlCol="0" anchor="t"/>
          <a:lstStyle/>
          <a:p>
            <a:pPr marL="0" indent="0" algn="l">
              <a:lnSpc>
                <a:spcPts val="4850"/>
              </a:lnSpc>
              <a:buNone/>
            </a:pPr>
            <a:r>
              <a:rPr lang="en-US" sz="3900" dirty="0">
                <a:solidFill>
                  <a:srgbClr val="FFFFFF"/>
                </a:solidFill>
                <a:latin typeface="Fraunces Medium" pitchFamily="34" charset="0"/>
                <a:ea typeface="Fraunces Medium" pitchFamily="34" charset="-122"/>
                <a:cs typeface="Fraunces Medium" pitchFamily="34" charset="-120"/>
              </a:rPr>
              <a:t>Revenue by Age Group &amp; Repeat Buyer Insights</a:t>
            </a:r>
            <a:endParaRPr lang="en-US" sz="3900" dirty="0"/>
          </a:p>
        </p:txBody>
      </p:sp>
      <p:sp>
        <p:nvSpPr>
          <p:cNvPr id="3" name="Text 1"/>
          <p:cNvSpPr/>
          <p:nvPr/>
        </p:nvSpPr>
        <p:spPr>
          <a:xfrm>
            <a:off x="793790" y="2361367"/>
            <a:ext cx="383607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Fraunces Medium" pitchFamily="34" charset="0"/>
                <a:ea typeface="Fraunces Medium" pitchFamily="34" charset="-122"/>
                <a:cs typeface="Fraunces Medium" pitchFamily="34" charset="-120"/>
              </a:rPr>
              <a:t>Age Group Revenue Distribution</a:t>
            </a:r>
            <a:endParaRPr lang="en-US" sz="1950" dirty="0"/>
          </a:p>
        </p:txBody>
      </p:sp>
      <p:sp>
        <p:nvSpPr>
          <p:cNvPr id="4" name="Text 2"/>
          <p:cNvSpPr/>
          <p:nvPr/>
        </p:nvSpPr>
        <p:spPr>
          <a:xfrm>
            <a:off x="793790" y="2869882"/>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Young Adults lead with $62,143 total revenue, followed by Middle-aged ($59,197), Adult ($55,978), and Senior ($55,763) segments. Young Adults represent the highest-value demographic, suggesting targeted marketing opportunities.</a:t>
            </a:r>
            <a:endParaRPr lang="en-US" sz="1550" dirty="0"/>
          </a:p>
        </p:txBody>
      </p:sp>
      <p:pic>
        <p:nvPicPr>
          <p:cNvPr id="5" name="Image 0" descr="preencoded.png"/>
          <p:cNvPicPr>
            <a:picLocks noChangeAspect="1"/>
          </p:cNvPicPr>
          <p:nvPr/>
        </p:nvPicPr>
        <p:blipFill>
          <a:blip r:embed="rId3"/>
          <a:stretch>
            <a:fillRect/>
          </a:stretch>
        </p:blipFill>
        <p:spPr>
          <a:xfrm>
            <a:off x="7564874" y="2386251"/>
            <a:ext cx="6279356" cy="3088958"/>
          </a:xfrm>
          <a:prstGeom prst="rect">
            <a:avLst/>
          </a:prstGeom>
        </p:spPr>
      </p:pic>
      <p:sp>
        <p:nvSpPr>
          <p:cNvPr id="6" name="Shape 3"/>
          <p:cNvSpPr/>
          <p:nvPr/>
        </p:nvSpPr>
        <p:spPr>
          <a:xfrm>
            <a:off x="7620476" y="5505688"/>
            <a:ext cx="198358" cy="198358"/>
          </a:xfrm>
          <a:prstGeom prst="roundRect">
            <a:avLst>
              <a:gd name="adj" fmla="val 9220"/>
            </a:avLst>
          </a:prstGeom>
          <a:solidFill>
            <a:srgbClr val="222949"/>
          </a:solidFill>
          <a:ln/>
        </p:spPr>
      </p:sp>
      <p:sp>
        <p:nvSpPr>
          <p:cNvPr id="7" name="Text 4"/>
          <p:cNvSpPr/>
          <p:nvPr/>
        </p:nvSpPr>
        <p:spPr>
          <a:xfrm>
            <a:off x="7879794" y="5505688"/>
            <a:ext cx="1140619" cy="198477"/>
          </a:xfrm>
          <a:prstGeom prst="rect">
            <a:avLst/>
          </a:prstGeom>
          <a:noFill/>
          <a:ln/>
        </p:spPr>
        <p:txBody>
          <a:bodyPr wrap="none" lIns="0" tIns="0" rIns="0" bIns="0" rtlCol="0" anchor="t"/>
          <a:lstStyle/>
          <a:p>
            <a:pPr marL="0" indent="0" algn="l">
              <a:lnSpc>
                <a:spcPts val="1550"/>
              </a:lnSpc>
              <a:buNone/>
            </a:pPr>
            <a:r>
              <a:rPr lang="en-US" sz="1550" dirty="0">
                <a:solidFill>
                  <a:srgbClr val="EBECEF"/>
                </a:solidFill>
                <a:latin typeface="Epilogue" pitchFamily="34" charset="0"/>
                <a:ea typeface="Epilogue" pitchFamily="34" charset="-122"/>
                <a:cs typeface="Epilogue" pitchFamily="34" charset="-120"/>
              </a:rPr>
              <a:t>Young Adult</a:t>
            </a:r>
            <a:endParaRPr lang="en-US" sz="1550" dirty="0"/>
          </a:p>
        </p:txBody>
      </p:sp>
      <p:sp>
        <p:nvSpPr>
          <p:cNvPr id="8" name="Shape 5"/>
          <p:cNvSpPr/>
          <p:nvPr/>
        </p:nvSpPr>
        <p:spPr>
          <a:xfrm>
            <a:off x="9172813" y="5505688"/>
            <a:ext cx="198358" cy="198358"/>
          </a:xfrm>
          <a:prstGeom prst="roundRect">
            <a:avLst>
              <a:gd name="adj" fmla="val 9220"/>
            </a:avLst>
          </a:prstGeom>
          <a:solidFill>
            <a:srgbClr val="404E8A"/>
          </a:solidFill>
          <a:ln/>
        </p:spPr>
      </p:sp>
      <p:sp>
        <p:nvSpPr>
          <p:cNvPr id="9" name="Text 6"/>
          <p:cNvSpPr/>
          <p:nvPr/>
        </p:nvSpPr>
        <p:spPr>
          <a:xfrm>
            <a:off x="9432131" y="5505688"/>
            <a:ext cx="1196221" cy="396954"/>
          </a:xfrm>
          <a:prstGeom prst="rect">
            <a:avLst/>
          </a:prstGeom>
          <a:noFill/>
          <a:ln/>
        </p:spPr>
        <p:txBody>
          <a:bodyPr wrap="square" lIns="0" tIns="0" rIns="0" bIns="0" rtlCol="0" anchor="t"/>
          <a:lstStyle/>
          <a:p>
            <a:pPr marL="0" indent="0" algn="l">
              <a:lnSpc>
                <a:spcPts val="1550"/>
              </a:lnSpc>
              <a:buNone/>
            </a:pPr>
            <a:r>
              <a:rPr lang="en-US" sz="1550" dirty="0">
                <a:solidFill>
                  <a:srgbClr val="EBECEF"/>
                </a:solidFill>
                <a:latin typeface="Epilogue" pitchFamily="34" charset="0"/>
                <a:ea typeface="Epilogue" pitchFamily="34" charset="-122"/>
                <a:cs typeface="Epilogue" pitchFamily="34" charset="-120"/>
              </a:rPr>
              <a:t>Middle-aged</a:t>
            </a:r>
            <a:endParaRPr lang="en-US" sz="1550" dirty="0"/>
          </a:p>
        </p:txBody>
      </p:sp>
      <p:sp>
        <p:nvSpPr>
          <p:cNvPr id="10" name="Shape 7"/>
          <p:cNvSpPr/>
          <p:nvPr/>
        </p:nvSpPr>
        <p:spPr>
          <a:xfrm>
            <a:off x="11128653" y="5505688"/>
            <a:ext cx="198358" cy="198358"/>
          </a:xfrm>
          <a:prstGeom prst="roundRect">
            <a:avLst>
              <a:gd name="adj" fmla="val 9220"/>
            </a:avLst>
          </a:prstGeom>
          <a:solidFill>
            <a:srgbClr val="6C7CBB"/>
          </a:solidFill>
          <a:ln/>
        </p:spPr>
      </p:sp>
      <p:sp>
        <p:nvSpPr>
          <p:cNvPr id="11" name="Text 8"/>
          <p:cNvSpPr/>
          <p:nvPr/>
        </p:nvSpPr>
        <p:spPr>
          <a:xfrm>
            <a:off x="11387971" y="5505688"/>
            <a:ext cx="500301" cy="198477"/>
          </a:xfrm>
          <a:prstGeom prst="rect">
            <a:avLst/>
          </a:prstGeom>
          <a:noFill/>
          <a:ln/>
        </p:spPr>
        <p:txBody>
          <a:bodyPr wrap="none" lIns="0" tIns="0" rIns="0" bIns="0" rtlCol="0" anchor="t"/>
          <a:lstStyle/>
          <a:p>
            <a:pPr marL="0" indent="0" algn="l">
              <a:lnSpc>
                <a:spcPts val="1550"/>
              </a:lnSpc>
              <a:buNone/>
            </a:pPr>
            <a:r>
              <a:rPr lang="en-US" sz="1550" dirty="0">
                <a:solidFill>
                  <a:srgbClr val="EBECEF"/>
                </a:solidFill>
                <a:latin typeface="Epilogue" pitchFamily="34" charset="0"/>
                <a:ea typeface="Epilogue" pitchFamily="34" charset="-122"/>
                <a:cs typeface="Epilogue" pitchFamily="34" charset="-120"/>
              </a:rPr>
              <a:t>Adult</a:t>
            </a:r>
            <a:endParaRPr lang="en-US" sz="1550" dirty="0"/>
          </a:p>
        </p:txBody>
      </p:sp>
      <p:sp>
        <p:nvSpPr>
          <p:cNvPr id="12" name="Shape 9"/>
          <p:cNvSpPr/>
          <p:nvPr/>
        </p:nvSpPr>
        <p:spPr>
          <a:xfrm>
            <a:off x="12388691" y="5505688"/>
            <a:ext cx="198358" cy="198358"/>
          </a:xfrm>
          <a:prstGeom prst="roundRect">
            <a:avLst>
              <a:gd name="adj" fmla="val 9220"/>
            </a:avLst>
          </a:prstGeom>
          <a:solidFill>
            <a:srgbClr val="ADB6D9"/>
          </a:solidFill>
          <a:ln/>
        </p:spPr>
      </p:sp>
      <p:sp>
        <p:nvSpPr>
          <p:cNvPr id="13" name="Text 10"/>
          <p:cNvSpPr/>
          <p:nvPr/>
        </p:nvSpPr>
        <p:spPr>
          <a:xfrm>
            <a:off x="12648009" y="5505688"/>
            <a:ext cx="625316" cy="198477"/>
          </a:xfrm>
          <a:prstGeom prst="rect">
            <a:avLst/>
          </a:prstGeom>
          <a:noFill/>
          <a:ln/>
        </p:spPr>
        <p:txBody>
          <a:bodyPr wrap="none" lIns="0" tIns="0" rIns="0" bIns="0" rtlCol="0" anchor="t"/>
          <a:lstStyle/>
          <a:p>
            <a:pPr marL="0" indent="0" algn="l">
              <a:lnSpc>
                <a:spcPts val="1550"/>
              </a:lnSpc>
              <a:buNone/>
            </a:pPr>
            <a:r>
              <a:rPr lang="en-US" sz="1550" dirty="0">
                <a:solidFill>
                  <a:srgbClr val="EBECEF"/>
                </a:solidFill>
                <a:latin typeface="Epilogue" pitchFamily="34" charset="0"/>
                <a:ea typeface="Epilogue" pitchFamily="34" charset="-122"/>
                <a:cs typeface="Epilogue" pitchFamily="34" charset="-120"/>
              </a:rPr>
              <a:t>Senior</a:t>
            </a:r>
            <a:endParaRPr lang="en-US" sz="1550" dirty="0"/>
          </a:p>
        </p:txBody>
      </p:sp>
      <p:sp>
        <p:nvSpPr>
          <p:cNvPr id="14" name="Text 11"/>
          <p:cNvSpPr/>
          <p:nvPr/>
        </p:nvSpPr>
        <p:spPr>
          <a:xfrm>
            <a:off x="793790" y="634912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BECEF"/>
                </a:solidFill>
                <a:latin typeface="Epilogue" pitchFamily="34" charset="0"/>
                <a:ea typeface="Epilogue" pitchFamily="34" charset="-122"/>
                <a:cs typeface="Epilogue" pitchFamily="34" charset="-120"/>
              </a:rPr>
              <a:t>Repeat buyers with 5+ purchases show strong subscription correlation: 958 subscribers versus 2,518 non-subscribers, indicating subscription programs effectively retain high-frequency purchasers.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98421" y="757595"/>
            <a:ext cx="7813358" cy="545544"/>
          </a:xfrm>
          <a:prstGeom prst="rect">
            <a:avLst/>
          </a:prstGeom>
          <a:noFill/>
          <a:ln/>
        </p:spPr>
        <p:txBody>
          <a:bodyPr wrap="none" lIns="0" tIns="0" rIns="0" bIns="0" rtlCol="0" anchor="t"/>
          <a:lstStyle/>
          <a:p>
            <a:pPr marL="0" indent="0" algn="l">
              <a:lnSpc>
                <a:spcPts val="4250"/>
              </a:lnSpc>
              <a:buNone/>
            </a:pPr>
            <a:r>
              <a:rPr lang="en-US" sz="3400" dirty="0">
                <a:solidFill>
                  <a:srgbClr val="FFFFFF"/>
                </a:solidFill>
                <a:latin typeface="Fraunces Medium" pitchFamily="34" charset="0"/>
                <a:ea typeface="Fraunces Medium" pitchFamily="34" charset="-122"/>
                <a:cs typeface="Fraunces Medium" pitchFamily="34" charset="-120"/>
              </a:rPr>
              <a:t>Strategic Business Recommendations</a:t>
            </a:r>
            <a:endParaRPr lang="en-US" sz="3400" dirty="0"/>
          </a:p>
        </p:txBody>
      </p:sp>
      <p:sp>
        <p:nvSpPr>
          <p:cNvPr id="3" name="Shape 1"/>
          <p:cNvSpPr/>
          <p:nvPr/>
        </p:nvSpPr>
        <p:spPr>
          <a:xfrm>
            <a:off x="698421" y="1652349"/>
            <a:ext cx="392787" cy="392787"/>
          </a:xfrm>
          <a:prstGeom prst="roundRect">
            <a:avLst>
              <a:gd name="adj" fmla="val 18670"/>
            </a:avLst>
          </a:prstGeom>
          <a:solidFill>
            <a:srgbClr val="283157"/>
          </a:solidFill>
          <a:ln w="7620">
            <a:solidFill>
              <a:srgbClr val="414A70"/>
            </a:solidFill>
            <a:prstDash val="solid"/>
          </a:ln>
        </p:spPr>
      </p:sp>
      <p:sp>
        <p:nvSpPr>
          <p:cNvPr id="4" name="Text 2"/>
          <p:cNvSpPr/>
          <p:nvPr/>
        </p:nvSpPr>
        <p:spPr>
          <a:xfrm>
            <a:off x="763845" y="1685032"/>
            <a:ext cx="261818" cy="327303"/>
          </a:xfrm>
          <a:prstGeom prst="rect">
            <a:avLst/>
          </a:prstGeom>
          <a:noFill/>
          <a:ln/>
        </p:spPr>
        <p:txBody>
          <a:bodyPr wrap="none" lIns="0" tIns="0" rIns="0" bIns="0" rtlCol="0" anchor="t"/>
          <a:lstStyle/>
          <a:p>
            <a:pPr marL="0" indent="0" algn="ctr">
              <a:lnSpc>
                <a:spcPts val="2050"/>
              </a:lnSpc>
              <a:buNone/>
            </a:pPr>
            <a:r>
              <a:rPr lang="en-US" sz="2050" dirty="0">
                <a:solidFill>
                  <a:srgbClr val="EBECEF"/>
                </a:solidFill>
                <a:latin typeface="Fraunces Medium" pitchFamily="34" charset="0"/>
                <a:ea typeface="Fraunces Medium" pitchFamily="34" charset="-122"/>
                <a:cs typeface="Fraunces Medium" pitchFamily="34" charset="-120"/>
              </a:rPr>
              <a:t>1</a:t>
            </a:r>
            <a:endParaRPr lang="en-US" sz="2050" dirty="0"/>
          </a:p>
        </p:txBody>
      </p:sp>
      <p:sp>
        <p:nvSpPr>
          <p:cNvPr id="5" name="Text 3"/>
          <p:cNvSpPr/>
          <p:nvPr/>
        </p:nvSpPr>
        <p:spPr>
          <a:xfrm>
            <a:off x="1265753" y="1712357"/>
            <a:ext cx="2182535" cy="272772"/>
          </a:xfrm>
          <a:prstGeom prst="rect">
            <a:avLst/>
          </a:prstGeom>
          <a:noFill/>
          <a:ln/>
        </p:spPr>
        <p:txBody>
          <a:bodyPr wrap="none" lIns="0" tIns="0" rIns="0" bIns="0" rtlCol="0" anchor="t"/>
          <a:lstStyle/>
          <a:p>
            <a:pPr marL="0" indent="0" algn="l">
              <a:lnSpc>
                <a:spcPts val="2100"/>
              </a:lnSpc>
              <a:buNone/>
            </a:pPr>
            <a:r>
              <a:rPr lang="en-US" sz="1700" dirty="0">
                <a:solidFill>
                  <a:srgbClr val="EBECEF"/>
                </a:solidFill>
                <a:latin typeface="Fraunces Medium" pitchFamily="34" charset="0"/>
                <a:ea typeface="Fraunces Medium" pitchFamily="34" charset="-122"/>
                <a:cs typeface="Fraunces Medium" pitchFamily="34" charset="-120"/>
              </a:rPr>
              <a:t>Boost Subscriptions</a:t>
            </a:r>
            <a:endParaRPr lang="en-US" sz="1700" dirty="0"/>
          </a:p>
        </p:txBody>
      </p:sp>
      <p:sp>
        <p:nvSpPr>
          <p:cNvPr id="6" name="Text 4"/>
          <p:cNvSpPr/>
          <p:nvPr/>
        </p:nvSpPr>
        <p:spPr>
          <a:xfrm>
            <a:off x="1265753" y="2089785"/>
            <a:ext cx="12666226" cy="558879"/>
          </a:xfrm>
          <a:prstGeom prst="rect">
            <a:avLst/>
          </a:prstGeom>
          <a:noFill/>
          <a:ln/>
        </p:spPr>
        <p:txBody>
          <a:bodyPr wrap="square" lIns="0" tIns="0" rIns="0" bIns="0" rtlCol="0" anchor="t"/>
          <a:lstStyle/>
          <a:p>
            <a:pPr marL="0" indent="0" algn="l">
              <a:lnSpc>
                <a:spcPts val="2150"/>
              </a:lnSpc>
              <a:buNone/>
            </a:pPr>
            <a:r>
              <a:rPr lang="en-US" sz="1350" dirty="0">
                <a:solidFill>
                  <a:srgbClr val="EBECEF"/>
                </a:solidFill>
                <a:latin typeface="Epilogue" pitchFamily="34" charset="0"/>
                <a:ea typeface="Epilogue" pitchFamily="34" charset="-122"/>
                <a:cs typeface="Epilogue" pitchFamily="34" charset="-120"/>
              </a:rPr>
              <a:t>Promote exclusive subscriber benefits and loyalty rewards to increase the 1,053 current subscribers and capture higher lifetime value from repeat customers.</a:t>
            </a:r>
            <a:endParaRPr lang="en-US" sz="1350" dirty="0"/>
          </a:p>
        </p:txBody>
      </p:sp>
      <p:sp>
        <p:nvSpPr>
          <p:cNvPr id="7" name="Shape 5"/>
          <p:cNvSpPr/>
          <p:nvPr/>
        </p:nvSpPr>
        <p:spPr>
          <a:xfrm>
            <a:off x="698421" y="2997875"/>
            <a:ext cx="392787" cy="392787"/>
          </a:xfrm>
          <a:prstGeom prst="roundRect">
            <a:avLst>
              <a:gd name="adj" fmla="val 18670"/>
            </a:avLst>
          </a:prstGeom>
          <a:solidFill>
            <a:srgbClr val="283157"/>
          </a:solidFill>
          <a:ln w="7620">
            <a:solidFill>
              <a:srgbClr val="414A70"/>
            </a:solidFill>
            <a:prstDash val="solid"/>
          </a:ln>
        </p:spPr>
      </p:sp>
      <p:sp>
        <p:nvSpPr>
          <p:cNvPr id="8" name="Text 6"/>
          <p:cNvSpPr/>
          <p:nvPr/>
        </p:nvSpPr>
        <p:spPr>
          <a:xfrm>
            <a:off x="763845" y="3030557"/>
            <a:ext cx="261818" cy="327303"/>
          </a:xfrm>
          <a:prstGeom prst="rect">
            <a:avLst/>
          </a:prstGeom>
          <a:noFill/>
          <a:ln/>
        </p:spPr>
        <p:txBody>
          <a:bodyPr wrap="none" lIns="0" tIns="0" rIns="0" bIns="0" rtlCol="0" anchor="t"/>
          <a:lstStyle/>
          <a:p>
            <a:pPr marL="0" indent="0" algn="ctr">
              <a:lnSpc>
                <a:spcPts val="2050"/>
              </a:lnSpc>
              <a:buNone/>
            </a:pPr>
            <a:r>
              <a:rPr lang="en-US" sz="2050" dirty="0">
                <a:solidFill>
                  <a:srgbClr val="EBECEF"/>
                </a:solidFill>
                <a:latin typeface="Fraunces Medium" pitchFamily="34" charset="0"/>
                <a:ea typeface="Fraunces Medium" pitchFamily="34" charset="-122"/>
                <a:cs typeface="Fraunces Medium" pitchFamily="34" charset="-120"/>
              </a:rPr>
              <a:t>2</a:t>
            </a:r>
            <a:endParaRPr lang="en-US" sz="2050" dirty="0"/>
          </a:p>
        </p:txBody>
      </p:sp>
      <p:sp>
        <p:nvSpPr>
          <p:cNvPr id="9" name="Text 7"/>
          <p:cNvSpPr/>
          <p:nvPr/>
        </p:nvSpPr>
        <p:spPr>
          <a:xfrm>
            <a:off x="1265753" y="3057882"/>
            <a:ext cx="2931081" cy="272772"/>
          </a:xfrm>
          <a:prstGeom prst="rect">
            <a:avLst/>
          </a:prstGeom>
          <a:noFill/>
          <a:ln/>
        </p:spPr>
        <p:txBody>
          <a:bodyPr wrap="none" lIns="0" tIns="0" rIns="0" bIns="0" rtlCol="0" anchor="t"/>
          <a:lstStyle/>
          <a:p>
            <a:pPr marL="0" indent="0" algn="l">
              <a:lnSpc>
                <a:spcPts val="2100"/>
              </a:lnSpc>
              <a:buNone/>
            </a:pPr>
            <a:r>
              <a:rPr lang="en-US" sz="1700" dirty="0">
                <a:solidFill>
                  <a:srgbClr val="EBECEF"/>
                </a:solidFill>
                <a:latin typeface="Fraunces Medium" pitchFamily="34" charset="0"/>
                <a:ea typeface="Fraunces Medium" pitchFamily="34" charset="-122"/>
                <a:cs typeface="Fraunces Medium" pitchFamily="34" charset="-120"/>
              </a:rPr>
              <a:t>Customer Loyalty Programs</a:t>
            </a:r>
            <a:endParaRPr lang="en-US" sz="1700" dirty="0"/>
          </a:p>
        </p:txBody>
      </p:sp>
      <p:sp>
        <p:nvSpPr>
          <p:cNvPr id="10" name="Text 8"/>
          <p:cNvSpPr/>
          <p:nvPr/>
        </p:nvSpPr>
        <p:spPr>
          <a:xfrm>
            <a:off x="1265753" y="3435310"/>
            <a:ext cx="12666226" cy="279440"/>
          </a:xfrm>
          <a:prstGeom prst="rect">
            <a:avLst/>
          </a:prstGeom>
          <a:noFill/>
          <a:ln/>
        </p:spPr>
        <p:txBody>
          <a:bodyPr wrap="none" lIns="0" tIns="0" rIns="0" bIns="0" rtlCol="0" anchor="t"/>
          <a:lstStyle/>
          <a:p>
            <a:pPr marL="0" indent="0" algn="l">
              <a:lnSpc>
                <a:spcPts val="2150"/>
              </a:lnSpc>
              <a:buNone/>
            </a:pPr>
            <a:r>
              <a:rPr lang="en-US" sz="1350" dirty="0">
                <a:solidFill>
                  <a:srgbClr val="EBECEF"/>
                </a:solidFill>
                <a:latin typeface="Epilogue" pitchFamily="34" charset="0"/>
                <a:ea typeface="Epilogue" pitchFamily="34" charset="-122"/>
                <a:cs typeface="Epilogue" pitchFamily="34" charset="-120"/>
              </a:rPr>
              <a:t>Reward repeat buyers to move 701 returning customers into the 3,116-strong loyal segment, maximizing retention and repeat purchase frequency.</a:t>
            </a:r>
            <a:endParaRPr lang="en-US" sz="1350" dirty="0"/>
          </a:p>
        </p:txBody>
      </p:sp>
      <p:sp>
        <p:nvSpPr>
          <p:cNvPr id="11" name="Shape 9"/>
          <p:cNvSpPr/>
          <p:nvPr/>
        </p:nvSpPr>
        <p:spPr>
          <a:xfrm>
            <a:off x="698421" y="4063960"/>
            <a:ext cx="392787" cy="392787"/>
          </a:xfrm>
          <a:prstGeom prst="roundRect">
            <a:avLst>
              <a:gd name="adj" fmla="val 18670"/>
            </a:avLst>
          </a:prstGeom>
          <a:solidFill>
            <a:srgbClr val="283157"/>
          </a:solidFill>
          <a:ln w="7620">
            <a:solidFill>
              <a:srgbClr val="414A70"/>
            </a:solidFill>
            <a:prstDash val="solid"/>
          </a:ln>
        </p:spPr>
      </p:sp>
      <p:sp>
        <p:nvSpPr>
          <p:cNvPr id="12" name="Text 10"/>
          <p:cNvSpPr/>
          <p:nvPr/>
        </p:nvSpPr>
        <p:spPr>
          <a:xfrm>
            <a:off x="763845" y="4096643"/>
            <a:ext cx="261818" cy="327303"/>
          </a:xfrm>
          <a:prstGeom prst="rect">
            <a:avLst/>
          </a:prstGeom>
          <a:noFill/>
          <a:ln/>
        </p:spPr>
        <p:txBody>
          <a:bodyPr wrap="none" lIns="0" tIns="0" rIns="0" bIns="0" rtlCol="0" anchor="t"/>
          <a:lstStyle/>
          <a:p>
            <a:pPr marL="0" indent="0" algn="ctr">
              <a:lnSpc>
                <a:spcPts val="2050"/>
              </a:lnSpc>
              <a:buNone/>
            </a:pPr>
            <a:r>
              <a:rPr lang="en-US" sz="2050" dirty="0">
                <a:solidFill>
                  <a:srgbClr val="EBECEF"/>
                </a:solidFill>
                <a:latin typeface="Fraunces Medium" pitchFamily="34" charset="0"/>
                <a:ea typeface="Fraunces Medium" pitchFamily="34" charset="-122"/>
                <a:cs typeface="Fraunces Medium" pitchFamily="34" charset="-120"/>
              </a:rPr>
              <a:t>3</a:t>
            </a:r>
            <a:endParaRPr lang="en-US" sz="2050" dirty="0"/>
          </a:p>
        </p:txBody>
      </p:sp>
      <p:sp>
        <p:nvSpPr>
          <p:cNvPr id="13" name="Text 11"/>
          <p:cNvSpPr/>
          <p:nvPr/>
        </p:nvSpPr>
        <p:spPr>
          <a:xfrm>
            <a:off x="1265753" y="4123968"/>
            <a:ext cx="2433995" cy="272772"/>
          </a:xfrm>
          <a:prstGeom prst="rect">
            <a:avLst/>
          </a:prstGeom>
          <a:noFill/>
          <a:ln/>
        </p:spPr>
        <p:txBody>
          <a:bodyPr wrap="none" lIns="0" tIns="0" rIns="0" bIns="0" rtlCol="0" anchor="t"/>
          <a:lstStyle/>
          <a:p>
            <a:pPr marL="0" indent="0" algn="l">
              <a:lnSpc>
                <a:spcPts val="2100"/>
              </a:lnSpc>
              <a:buNone/>
            </a:pPr>
            <a:r>
              <a:rPr lang="en-US" sz="1700" dirty="0">
                <a:solidFill>
                  <a:srgbClr val="EBECEF"/>
                </a:solidFill>
                <a:latin typeface="Fraunces Medium" pitchFamily="34" charset="0"/>
                <a:ea typeface="Fraunces Medium" pitchFamily="34" charset="-122"/>
                <a:cs typeface="Fraunces Medium" pitchFamily="34" charset="-120"/>
              </a:rPr>
              <a:t>Review Discount Policy</a:t>
            </a:r>
            <a:endParaRPr lang="en-US" sz="1700" dirty="0"/>
          </a:p>
        </p:txBody>
      </p:sp>
      <p:sp>
        <p:nvSpPr>
          <p:cNvPr id="14" name="Text 12"/>
          <p:cNvSpPr/>
          <p:nvPr/>
        </p:nvSpPr>
        <p:spPr>
          <a:xfrm>
            <a:off x="1265753" y="4501396"/>
            <a:ext cx="12666226" cy="558879"/>
          </a:xfrm>
          <a:prstGeom prst="rect">
            <a:avLst/>
          </a:prstGeom>
          <a:noFill/>
          <a:ln/>
        </p:spPr>
        <p:txBody>
          <a:bodyPr wrap="square" lIns="0" tIns="0" rIns="0" bIns="0" rtlCol="0" anchor="t"/>
          <a:lstStyle/>
          <a:p>
            <a:pPr marL="0" indent="0" algn="l">
              <a:lnSpc>
                <a:spcPts val="2150"/>
              </a:lnSpc>
              <a:buNone/>
            </a:pPr>
            <a:r>
              <a:rPr lang="en-US" sz="1350" dirty="0">
                <a:solidFill>
                  <a:srgbClr val="EBECEF"/>
                </a:solidFill>
                <a:latin typeface="Epilogue" pitchFamily="34" charset="0"/>
                <a:ea typeface="Epilogue" pitchFamily="34" charset="-122"/>
                <a:cs typeface="Epilogue" pitchFamily="34" charset="-120"/>
              </a:rPr>
              <a:t>Balance promotional effectiveness with margin control by analyzing the 50% discount rate on Hats and similar high-discount products for profitability optimization.</a:t>
            </a:r>
            <a:endParaRPr lang="en-US" sz="1350" dirty="0"/>
          </a:p>
        </p:txBody>
      </p:sp>
      <p:sp>
        <p:nvSpPr>
          <p:cNvPr id="15" name="Shape 13"/>
          <p:cNvSpPr/>
          <p:nvPr/>
        </p:nvSpPr>
        <p:spPr>
          <a:xfrm>
            <a:off x="698421" y="5409486"/>
            <a:ext cx="392787" cy="392787"/>
          </a:xfrm>
          <a:prstGeom prst="roundRect">
            <a:avLst>
              <a:gd name="adj" fmla="val 18670"/>
            </a:avLst>
          </a:prstGeom>
          <a:solidFill>
            <a:srgbClr val="283157"/>
          </a:solidFill>
          <a:ln w="7620">
            <a:solidFill>
              <a:srgbClr val="414A70"/>
            </a:solidFill>
            <a:prstDash val="solid"/>
          </a:ln>
        </p:spPr>
      </p:sp>
      <p:sp>
        <p:nvSpPr>
          <p:cNvPr id="16" name="Text 14"/>
          <p:cNvSpPr/>
          <p:nvPr/>
        </p:nvSpPr>
        <p:spPr>
          <a:xfrm>
            <a:off x="763845" y="5442168"/>
            <a:ext cx="261818" cy="327303"/>
          </a:xfrm>
          <a:prstGeom prst="rect">
            <a:avLst/>
          </a:prstGeom>
          <a:noFill/>
          <a:ln/>
        </p:spPr>
        <p:txBody>
          <a:bodyPr wrap="none" lIns="0" tIns="0" rIns="0" bIns="0" rtlCol="0" anchor="t"/>
          <a:lstStyle/>
          <a:p>
            <a:pPr marL="0" indent="0" algn="ctr">
              <a:lnSpc>
                <a:spcPts val="2050"/>
              </a:lnSpc>
              <a:buNone/>
            </a:pPr>
            <a:r>
              <a:rPr lang="en-US" sz="2050" dirty="0">
                <a:solidFill>
                  <a:srgbClr val="EBECEF"/>
                </a:solidFill>
                <a:latin typeface="Fraunces Medium" pitchFamily="34" charset="0"/>
                <a:ea typeface="Fraunces Medium" pitchFamily="34" charset="-122"/>
                <a:cs typeface="Fraunces Medium" pitchFamily="34" charset="-120"/>
              </a:rPr>
              <a:t>4</a:t>
            </a:r>
            <a:endParaRPr lang="en-US" sz="2050" dirty="0"/>
          </a:p>
        </p:txBody>
      </p:sp>
      <p:sp>
        <p:nvSpPr>
          <p:cNvPr id="17" name="Text 15"/>
          <p:cNvSpPr/>
          <p:nvPr/>
        </p:nvSpPr>
        <p:spPr>
          <a:xfrm>
            <a:off x="1265753" y="5469493"/>
            <a:ext cx="2182535" cy="272772"/>
          </a:xfrm>
          <a:prstGeom prst="rect">
            <a:avLst/>
          </a:prstGeom>
          <a:noFill/>
          <a:ln/>
        </p:spPr>
        <p:txBody>
          <a:bodyPr wrap="none" lIns="0" tIns="0" rIns="0" bIns="0" rtlCol="0" anchor="t"/>
          <a:lstStyle/>
          <a:p>
            <a:pPr marL="0" indent="0" algn="l">
              <a:lnSpc>
                <a:spcPts val="2100"/>
              </a:lnSpc>
              <a:buNone/>
            </a:pPr>
            <a:r>
              <a:rPr lang="en-US" sz="1700" dirty="0">
                <a:solidFill>
                  <a:srgbClr val="EBECEF"/>
                </a:solidFill>
                <a:latin typeface="Fraunces Medium" pitchFamily="34" charset="0"/>
                <a:ea typeface="Fraunces Medium" pitchFamily="34" charset="-122"/>
                <a:cs typeface="Fraunces Medium" pitchFamily="34" charset="-120"/>
              </a:rPr>
              <a:t>Product Positioning</a:t>
            </a:r>
            <a:endParaRPr lang="en-US" sz="1700" dirty="0"/>
          </a:p>
        </p:txBody>
      </p:sp>
      <p:sp>
        <p:nvSpPr>
          <p:cNvPr id="18" name="Text 16"/>
          <p:cNvSpPr/>
          <p:nvPr/>
        </p:nvSpPr>
        <p:spPr>
          <a:xfrm>
            <a:off x="1265753" y="5846921"/>
            <a:ext cx="12666226" cy="279440"/>
          </a:xfrm>
          <a:prstGeom prst="rect">
            <a:avLst/>
          </a:prstGeom>
          <a:noFill/>
          <a:ln/>
        </p:spPr>
        <p:txBody>
          <a:bodyPr wrap="none" lIns="0" tIns="0" rIns="0" bIns="0" rtlCol="0" anchor="t"/>
          <a:lstStyle/>
          <a:p>
            <a:pPr marL="0" indent="0" algn="l">
              <a:lnSpc>
                <a:spcPts val="2150"/>
              </a:lnSpc>
              <a:buNone/>
            </a:pPr>
            <a:r>
              <a:rPr lang="en-US" sz="1350" dirty="0">
                <a:solidFill>
                  <a:srgbClr val="EBECEF"/>
                </a:solidFill>
                <a:latin typeface="Epilogue" pitchFamily="34" charset="0"/>
                <a:ea typeface="Epilogue" pitchFamily="34" charset="-122"/>
                <a:cs typeface="Epilogue" pitchFamily="34" charset="-120"/>
              </a:rPr>
              <a:t>Highlight top-rated products (Gloves 3.86, Sandals 3.84) and best-sellers (Blouse, Jewelry 171 orders) in marketing campaigns to drive conversion.</a:t>
            </a:r>
            <a:endParaRPr lang="en-US" sz="1350" dirty="0"/>
          </a:p>
        </p:txBody>
      </p:sp>
      <p:sp>
        <p:nvSpPr>
          <p:cNvPr id="19" name="Shape 17"/>
          <p:cNvSpPr/>
          <p:nvPr/>
        </p:nvSpPr>
        <p:spPr>
          <a:xfrm>
            <a:off x="698421" y="6475571"/>
            <a:ext cx="392787" cy="392787"/>
          </a:xfrm>
          <a:prstGeom prst="roundRect">
            <a:avLst>
              <a:gd name="adj" fmla="val 18670"/>
            </a:avLst>
          </a:prstGeom>
          <a:solidFill>
            <a:srgbClr val="283157"/>
          </a:solidFill>
          <a:ln w="7620">
            <a:solidFill>
              <a:srgbClr val="414A70"/>
            </a:solidFill>
            <a:prstDash val="solid"/>
          </a:ln>
        </p:spPr>
      </p:sp>
      <p:sp>
        <p:nvSpPr>
          <p:cNvPr id="20" name="Text 18"/>
          <p:cNvSpPr/>
          <p:nvPr/>
        </p:nvSpPr>
        <p:spPr>
          <a:xfrm>
            <a:off x="763845" y="6508254"/>
            <a:ext cx="261818" cy="327303"/>
          </a:xfrm>
          <a:prstGeom prst="rect">
            <a:avLst/>
          </a:prstGeom>
          <a:noFill/>
          <a:ln/>
        </p:spPr>
        <p:txBody>
          <a:bodyPr wrap="none" lIns="0" tIns="0" rIns="0" bIns="0" rtlCol="0" anchor="t"/>
          <a:lstStyle/>
          <a:p>
            <a:pPr marL="0" indent="0" algn="ctr">
              <a:lnSpc>
                <a:spcPts val="2050"/>
              </a:lnSpc>
              <a:buNone/>
            </a:pPr>
            <a:r>
              <a:rPr lang="en-US" sz="2050" dirty="0">
                <a:solidFill>
                  <a:srgbClr val="EBECEF"/>
                </a:solidFill>
                <a:latin typeface="Fraunces Medium" pitchFamily="34" charset="0"/>
                <a:ea typeface="Fraunces Medium" pitchFamily="34" charset="-122"/>
                <a:cs typeface="Fraunces Medium" pitchFamily="34" charset="-120"/>
              </a:rPr>
              <a:t>5</a:t>
            </a:r>
            <a:endParaRPr lang="en-US" sz="2050" dirty="0"/>
          </a:p>
        </p:txBody>
      </p:sp>
      <p:sp>
        <p:nvSpPr>
          <p:cNvPr id="21" name="Text 19"/>
          <p:cNvSpPr/>
          <p:nvPr/>
        </p:nvSpPr>
        <p:spPr>
          <a:xfrm>
            <a:off x="1265753" y="6535579"/>
            <a:ext cx="2182535" cy="272772"/>
          </a:xfrm>
          <a:prstGeom prst="rect">
            <a:avLst/>
          </a:prstGeom>
          <a:noFill/>
          <a:ln/>
        </p:spPr>
        <p:txBody>
          <a:bodyPr wrap="none" lIns="0" tIns="0" rIns="0" bIns="0" rtlCol="0" anchor="t"/>
          <a:lstStyle/>
          <a:p>
            <a:pPr marL="0" indent="0" algn="l">
              <a:lnSpc>
                <a:spcPts val="2100"/>
              </a:lnSpc>
              <a:buNone/>
            </a:pPr>
            <a:r>
              <a:rPr lang="en-US" sz="1700" dirty="0">
                <a:solidFill>
                  <a:srgbClr val="EBECEF"/>
                </a:solidFill>
                <a:latin typeface="Fraunces Medium" pitchFamily="34" charset="0"/>
                <a:ea typeface="Fraunces Medium" pitchFamily="34" charset="-122"/>
                <a:cs typeface="Fraunces Medium" pitchFamily="34" charset="-120"/>
              </a:rPr>
              <a:t>Targeted Marketing</a:t>
            </a:r>
            <a:endParaRPr lang="en-US" sz="1700" dirty="0"/>
          </a:p>
        </p:txBody>
      </p:sp>
      <p:sp>
        <p:nvSpPr>
          <p:cNvPr id="22" name="Text 20"/>
          <p:cNvSpPr/>
          <p:nvPr/>
        </p:nvSpPr>
        <p:spPr>
          <a:xfrm>
            <a:off x="1265753" y="6913007"/>
            <a:ext cx="12666226" cy="558879"/>
          </a:xfrm>
          <a:prstGeom prst="rect">
            <a:avLst/>
          </a:prstGeom>
          <a:noFill/>
          <a:ln/>
        </p:spPr>
        <p:txBody>
          <a:bodyPr wrap="square" lIns="0" tIns="0" rIns="0" bIns="0" rtlCol="0" anchor="t"/>
          <a:lstStyle/>
          <a:p>
            <a:pPr marL="0" indent="0" algn="l">
              <a:lnSpc>
                <a:spcPts val="2150"/>
              </a:lnSpc>
              <a:buNone/>
            </a:pPr>
            <a:r>
              <a:rPr lang="en-US" sz="1350" dirty="0">
                <a:solidFill>
                  <a:srgbClr val="EBECEF"/>
                </a:solidFill>
                <a:latin typeface="Epilogue" pitchFamily="34" charset="0"/>
                <a:ea typeface="Epilogue" pitchFamily="34" charset="-122"/>
                <a:cs typeface="Epilogue" pitchFamily="34" charset="-120"/>
              </a:rPr>
              <a:t>Focus efforts on high-revenue Young Adult segment ($62,143), male customers ($157,890), and express-shipping users who demonstrate higher purchase values.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813</Words>
  <Application>Microsoft Office PowerPoint</Application>
  <PresentationFormat>Custom</PresentationFormat>
  <Paragraphs>90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Fraunces Medium</vt:lpstr>
      <vt:lpstr>Epilogue</vt:lpstr>
      <vt:lpstr>Fraunces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Arya Bhattacharya</cp:lastModifiedBy>
  <cp:revision>2</cp:revision>
  <dcterms:created xsi:type="dcterms:W3CDTF">2025-11-09T13:57:51Z</dcterms:created>
  <dcterms:modified xsi:type="dcterms:W3CDTF">2025-11-09T13:59:19Z</dcterms:modified>
</cp:coreProperties>
</file>